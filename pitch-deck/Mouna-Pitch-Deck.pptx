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charts/chart1.xml" ContentType="application/vnd.openxmlformats-officedocument.drawingml.chart+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2.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3.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 id="{4bd8aded-76d8-7d5b-c5ec-630405bf7d22}">
          <p14:sldIdLst>
            <p14:sldId id="256"/>
          </p14:sldIdLst>
        </p14:section>
        <p14:section name="Problem" id="{2d8d7842-bc2e-fe0b-78c7-37515246753e}">
          <p14:sldIdLst>
            <p14:sldId id="257"/>
          </p14:sldIdLst>
        </p14:section>
        <p14:section name="Solution" id="{f834517a-5690-ee6b-4aa9-475fe3125838}">
          <p14:sldIdLst>
            <p14:sldId id="258"/>
          </p14:sldIdLst>
        </p14:section>
        <p14:section name="Proof" id="{d7e12b17-d750-908e-e597-64dabfdddf6e}">
          <p14:sldIdLst>
            <p14:sldId id="259"/>
          </p14:sldIdLst>
        </p14:section>
        <p14:section name="Architecture" id="{6638093f-0788-cb52-1170-4d87d1771abc}">
          <p14:sldIdLst>
            <p14:sldId id="260"/>
          </p14:sldIdLst>
        </p14:section>
        <p14:section name="Roadmap" id="{d9b73bce-4041-7236-e870-cf6a637b2bd5}">
          <p14:sldIdLst>
            <p14:sldId id="261"/>
          </p14:sldIdLst>
        </p14:section>
        <p14:section name="Impact" id="{6a18d9d0-58f2-286a-0aa3-4e09016b5e9b}">
          <p14:sldIdLst>
            <p14:sldId id="262"/>
          </p14:sldIdLst>
        </p14:section>
        <p14:section name="Default-1" id="{dd880540-f0fb-018b-e77f-901729c4b017}">
          <p14:sldIdLst>
            <p14:sldId id="26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Millions of people</c:v>
                </c:pt>
              </c:strCache>
            </c:strRef>
          </c:tx>
          <c:spPr>
            <a:solidFill>
              <a:srgbClr val="C9BBA4"/>
            </a:solidFill>
            <a:effectLst/>
          </c:spPr>
          <c:invertIfNegative val="0"/>
          <c:dLbls>
            <c:numFmt formatCode="0&quot;M&quot;" sourceLinked="0"/>
            <c:txPr>
              <a:bodyPr/>
              <a:lstStyle/>
              <a:p>
                <a:pPr>
                  <a:defRPr b="1" i="0" strike="noStrike" sz="1600" u="none">
                    <a:solidFill>
                      <a:srgbClr val="3F3B38"/>
                    </a:solidFill>
                    <a:latin typeface="+mn-lt"/>
                  </a:defRPr>
                </a:pPr>
              </a:p>
            </c:txPr>
            <c:showLegendKey val="0"/>
            <c:showVal val="1"/>
            <c:showCatName val="0"/>
            <c:showSerName val="0"/>
            <c:showPercent val="0"/>
            <c:showBubbleSize val="0"/>
            <c:showLeaderLines val="0"/>
          </c:dLbls>
          <c:dPt>
            <c:idx val="0"/>
            <c:invertIfNegative val="0"/>
            <c:bubble3D val="0"/>
            <c:spPr>
              <a:solidFill>
                <a:srgbClr val="C9BBA4"/>
              </a:solidFill>
              <a:effectLst/>
            </c:spPr>
          </c:dPt>
          <c:dPt>
            <c:idx val="1"/>
            <c:invertIfNegative val="0"/>
            <c:bubble3D val="0"/>
            <c:spPr>
              <a:solidFill>
                <a:srgbClr val="7A1F2B"/>
              </a:solidFill>
              <a:effectLst/>
            </c:spPr>
          </c:dPt>
          <c:dPt>
            <c:idx val="2"/>
            <c:invertIfNegative val="0"/>
            <c:bubble3D val="0"/>
            <c:spPr>
              <a:solidFill>
                <a:srgbClr val="C9BBA4"/>
              </a:solidFill>
              <a:effectLst/>
            </c:spPr>
          </c:dPt>
          <c:cat>
            <c:multiLvlStrRef>
              <c:f>Sheet1!$A$2:$A$4</c:f>
              <c:multiLvlStrCache>
                <c:ptCount val="3"/>
                <c:lvl>
                  <c:pt idx="0">
                    <c:v>Disabling hearing loss</c:v>
                  </c:pt>
                  <c:pt idx="1">
                    <c:v>Cannot rely on speech</c:v>
                  </c:pt>
                  <c:pt idx="2">
                    <c:v>Deaf, rely on sign language</c:v>
                  </c:pt>
                </c:lvl>
              </c:multiLvlStrCache>
            </c:multiLvlStrRef>
          </c:cat>
          <c:val>
            <c:numRef>
              <c:f>Sheet1!$B$2:$B$4</c:f>
              <c:numCache>
                <c:formatCode>General</c:formatCode>
                <c:ptCount val="3"/>
                <c:pt idx="0">
                  <c:v>430</c:v>
                </c:pt>
                <c:pt idx="1">
                  <c:v>97</c:v>
                </c:pt>
                <c:pt idx="2">
                  <c:v>70</c:v>
                </c:pt>
              </c:numCache>
            </c:numRef>
          </c:val>
        </c:ser>
        <c:dLbls>
          <c:numFmt formatCode="0&quot;M&quot;" sourceLinked="0"/>
          <c:txPr>
            <a:bodyPr/>
            <a:lstStyle/>
            <a:p>
              <a:pPr>
                <a:defRPr b="1" i="0" strike="noStrike" sz="1600" u="none">
                  <a:solidFill>
                    <a:srgbClr val="3F3B38"/>
                  </a:solidFill>
                  <a:latin typeface="+mn-lt"/>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400" b="0" i="0" u="none" strike="noStrike">
                <a:solidFill>
                  <a:srgbClr val="3F3B38"/>
                </a:solidFill>
                <a:latin typeface="+mn-lt"/>
              </a:defRPr>
            </a:pPr>
            <a:endParaRPr lang="en-US"/>
          </a:p>
        </c:txPr>
        <c:crossAx val="2094734552"/>
        <c:crosses val="autoZero"/>
        <c:auto val="1"/>
        <c:lblAlgn val="ctr"/>
        <c:noMultiLvlLbl val="1"/>
      </c:catAx>
      <c:valAx>
        <c:axId val="2094734552"/>
        <c:scaling>
          <c:orientation val="minMax"/>
          <c:max val="520"/>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Top-1 accuracy (%)</c:v>
                </c:pt>
              </c:strCache>
            </c:strRef>
          </c:tx>
          <c:spPr>
            <a:solidFill>
              <a:srgbClr val="C9BBA4"/>
            </a:solidFill>
            <a:effectLst/>
          </c:spPr>
          <c:invertIfNegative val="0"/>
          <c:dLbls>
            <c:numFmt formatCode="0.0&quot;%&quot;" sourceLinked="0"/>
            <c:txPr>
              <a:bodyPr/>
              <a:lstStyle/>
              <a:p>
                <a:pPr>
                  <a:defRPr b="1" i="0" strike="noStrike" sz="1600" u="none">
                    <a:solidFill>
                      <a:srgbClr val="3F3B38"/>
                    </a:solidFill>
                    <a:latin typeface="+mn-lt"/>
                  </a:defRPr>
                </a:pPr>
              </a:p>
            </c:txPr>
            <c:showLegendKey val="0"/>
            <c:showVal val="1"/>
            <c:showCatName val="0"/>
            <c:showSerName val="0"/>
            <c:showPercent val="0"/>
            <c:showBubbleSize val="0"/>
            <c:showLeaderLines val="0"/>
          </c:dLbls>
          <c:dPt>
            <c:idx val="0"/>
            <c:invertIfNegative val="0"/>
            <c:bubble3D val="0"/>
            <c:spPr>
              <a:solidFill>
                <a:srgbClr val="C9BBA4"/>
              </a:solidFill>
              <a:effectLst/>
            </c:spPr>
          </c:dPt>
          <c:dPt>
            <c:idx val="1"/>
            <c:invertIfNegative val="0"/>
            <c:bubble3D val="0"/>
            <c:spPr>
              <a:solidFill>
                <a:srgbClr val="B5838B"/>
              </a:solidFill>
              <a:effectLst/>
            </c:spPr>
          </c:dPt>
          <c:dPt>
            <c:idx val="2"/>
            <c:invertIfNegative val="0"/>
            <c:bubble3D val="0"/>
            <c:spPr>
              <a:solidFill>
                <a:srgbClr val="7A1F2B"/>
              </a:solidFill>
              <a:effectLst/>
            </c:spPr>
          </c:dPt>
          <c:cat>
            <c:multiLvlStrRef>
              <c:f>Sheet1!$A$2:$A$4</c:f>
              <c:multiLvlStrCache>
                <c:ptCount val="3"/>
                <c:lvl>
                  <c:pt idx="0">
                    <c:v>1 example</c:v>
                  </c:pt>
                  <c:pt idx="1">
                    <c:v>3 examples</c:v>
                  </c:pt>
                  <c:pt idx="2">
                    <c:v>5 examples</c:v>
                  </c:pt>
                </c:lvl>
              </c:multiLvlStrCache>
            </c:multiLvlStrRef>
          </c:cat>
          <c:val>
            <c:numRef>
              <c:f>Sheet1!$B$2:$B$4</c:f>
              <c:numCache>
                <c:formatCode>General</c:formatCode>
                <c:ptCount val="3"/>
                <c:pt idx="0">
                  <c:v>71.9</c:v>
                </c:pt>
                <c:pt idx="1">
                  <c:v>85.2</c:v>
                </c:pt>
                <c:pt idx="2">
                  <c:v>89</c:v>
                </c:pt>
              </c:numCache>
            </c:numRef>
          </c:val>
        </c:ser>
        <c:dLbls>
          <c:numFmt formatCode="0.0&quot;%&quot;" sourceLinked="0"/>
          <c:txPr>
            <a:bodyPr/>
            <a:lstStyle/>
            <a:p>
              <a:pPr>
                <a:defRPr b="1" i="0" strike="noStrike" sz="1600" u="none">
                  <a:solidFill>
                    <a:srgbClr val="3F3B38"/>
                  </a:solidFill>
                  <a:latin typeface="+mn-lt"/>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3F3B38"/>
                </a:solidFill>
                <a:latin typeface="+mn-lt"/>
              </a:defRPr>
            </a:pPr>
            <a:endParaRPr lang="en-US"/>
          </a:p>
        </c:txPr>
        <c:crossAx val="2094734552"/>
        <c:crosses val="autoZero"/>
        <c:auto val="1"/>
        <c:lblAlgn val="ctr"/>
        <c:noMultiLvlLbl val="1"/>
      </c:catAx>
      <c:valAx>
        <c:axId val="2094734552"/>
        <c:scaling>
          <c:orientation val="minMax"/>
          <c:max val="100"/>
          <c:min val="0"/>
        </c:scaling>
        <c:delete val="1"/>
        <c:axPos val="l"/>
        <c:majorGridlines>
          <c:spPr>
            <a:ln w="6350" cap="flat">
              <a:solidFill>
                <a:srgbClr val="E3D6BF"/>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majorUnit val="25"/>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Millions of people in India</c:v>
                </c:pt>
              </c:strCache>
            </c:strRef>
          </c:tx>
          <c:spPr>
            <a:solidFill>
              <a:srgbClr val="7A1F2B"/>
            </a:solidFill>
            <a:effectLst/>
          </c:spPr>
          <c:invertIfNegative val="0"/>
          <c:dLbls>
            <c:numFmt formatCode="0.0&quot;M&quot;" sourceLinked="0"/>
            <c:txPr>
              <a:bodyPr/>
              <a:lstStyle/>
              <a:p>
                <a:pPr>
                  <a:defRPr b="1" i="0" strike="noStrike" sz="1600" u="none">
                    <a:solidFill>
                      <a:srgbClr val="3F3B38"/>
                    </a:solidFill>
                    <a:latin typeface="+mn-lt"/>
                  </a:defRPr>
                </a:pPr>
              </a:p>
            </c:txPr>
            <c:showLegendKey val="0"/>
            <c:showVal val="1"/>
            <c:showCatName val="0"/>
            <c:showSerName val="0"/>
            <c:showPercent val="0"/>
            <c:showBubbleSize val="0"/>
            <c:showLeaderLines val="0"/>
          </c:dLbls>
          <c:cat>
            <c:multiLvlStrRef>
              <c:f>Sheet1!$A$2:$A$4</c:f>
              <c:multiLvlStrCache>
                <c:ptCount val="3"/>
                <c:lvl>
                  <c:pt idx="0">
                    <c:v>Hearing impairment (sign users)</c:v>
                  </c:pt>
                  <c:pt idx="1">
                    <c:v>Stroke survivors with aphasia</c:v>
                  </c:pt>
                  <c:pt idx="2">
                    <c:v>Speech disability</c:v>
                  </c:pt>
                </c:lvl>
              </c:multiLvlStrCache>
            </c:multiLvlStrRef>
          </c:cat>
          <c:val>
            <c:numRef>
              <c:f>Sheet1!$B$2:$B$4</c:f>
              <c:numCache>
                <c:formatCode>General</c:formatCode>
                <c:ptCount val="3"/>
                <c:pt idx="0">
                  <c:v>5.07</c:v>
                </c:pt>
                <c:pt idx="1">
                  <c:v>2</c:v>
                </c:pt>
                <c:pt idx="2">
                  <c:v>1.88</c:v>
                </c:pt>
              </c:numCache>
            </c:numRef>
          </c:val>
        </c:ser>
        <c:dLbls>
          <c:numFmt formatCode="0.0&quot;M&quot;" sourceLinked="0"/>
          <c:txPr>
            <a:bodyPr/>
            <a:lstStyle/>
            <a:p>
              <a:pPr>
                <a:defRPr b="1" i="0" strike="noStrike" sz="1600" u="none">
                  <a:solidFill>
                    <a:srgbClr val="3F3B38"/>
                  </a:solidFill>
                  <a:latin typeface="+mn-lt"/>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400" b="0" i="0" u="none" strike="noStrike">
                <a:solidFill>
                  <a:srgbClr val="3F3B38"/>
                </a:solidFill>
                <a:latin typeface="+mn-lt"/>
              </a:defRPr>
            </a:pPr>
            <a:endParaRPr lang="en-US"/>
          </a:p>
        </c:txPr>
        <c:crossAx val="2094734552"/>
        <c:crosses val="autoZero"/>
        <c:auto val="1"/>
        <c:lblAlgn val="ctr"/>
        <c:noMultiLvlLbl val="1"/>
      </c:catAx>
      <c:valAx>
        <c:axId val="2094734552"/>
        <c:scaling>
          <c:orientation val="minMax"/>
          <c:max val="6.5"/>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slowly. Mouna means silence. Everyone in this room has said something today without thinking about it. For tens of millions of people that is the one thing they cannot do. Our line: every soul deserves a voice.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scale: WHO counts 430 million people with disabling hearing loss. Researchers put the number of people who cannot rely on speech at more than 97 million. About 70 million deaf people use sign language. These groups overlap, so we never add them. In India: Census 2011 counts about 1.9 million people with a speech disability. There are only about 300 certified Indian Sign Language interpreters for roughly 5 million deaf Indians, and about 2,500 speech therapists and audiologists for the whole country. Hearing-loss figures are WHO; the 97 million figure is from AAC research (Penn State, J. Light); interpreter and therapist counts vary by source and year.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idea in one breath. A person who cannot make sound mouths a word or signs it. Mouna recognises it on the phone, and says it aloud in the language of whoever is listening. A Tamil speaker can be heard in Kannada. The screenshot is the real app: the three modes Lips, Voice and Sign sit on the camera screen. Sign mode uses a published Indian Sign Language model with 263 signs; we have not yet tested it with real signers, and we say 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you can trust this. Everything here is measured, not promised. On a public Kannada lip-reading dataset, after five examples per phrase the first guess is right 89% of the time. When Mouna chooses to speak, it is right 99.5% of the time (held-out speakers); when unsure it shows choices instead. Careful mode cuts untaught words spoken by mistake from 23% to about 7%. The encoder runs entirely on the Snapdragon NPU in 18 ms per 1.9 seconds of lips. The limits: this is a public dataset, not our own silent-speech recordings, and not yet real signers. Source files: deck/data/*.json in the repository.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stages, one phone. SEE: the camera and MediaPipe landmarks. UNDERSTAND: the lip encoder on the Qualcomm NPU, the Indian Sign Language model, and simple channels like blinks and nods for people who cannot mouth clearly. DECIDE is the heart: Mouna learns this person from a few examples, speaks only when it is sure, shows two to four choices when it is not, and always confirms urgent actions. SPEAK: a voice in the listener's language with an offline fallback, a caregiver link over the local network, and a web-link call that needs no SIM. Privacy: no video is stored and nothing needs the cloud.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pipeline, honestly labelled. Done: the lip encoder on the NPU, teaching in about a minute, choices when unsure, voices in four languages, the caregiver link and calls through a web link so the demo phone needs no SIM. In progress: real signers for sign mode, our own silent-speech recordings, native-speaker review of the phrase packs. Next: real phone-number calls through a telephony bridge such as Twilio (we estimate six to ten weeks), more Indian languages, a small on-device language model, and pilots with speech therapists and hospitals with consent. Android does not let a third-party app inject audio into a carrier call, which is why the bridge is the production path.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Who can benefit. Worldwide, more than 97 million people cannot rely on speech. In India, Census 2011 counts about 5 million with hearing impairment (the sign users), about 1.9 million with a speech disability, and research estimates about 2 million living with aphasia after stroke. About 70,000 new laryngeal and hypopharyngeal cancers are diagnosed each year, where surgery can remove the voice. These groups overlap, so we never add them. We do not claim every one of these people can use Mouna today; it needs a movement the camera can see. The contrast that matters: dedicated eye-gaze speech devices cost 4,000 to 23,000 dollars. Mouna is an app on the phone they already have. Cost range and 97M are from secondary sources; confirm against primary papers before external publication.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line. Every soul deserves a voice. Ask the room to try the prototype. Questions welcome.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rgbClr val="F6F0E6"/>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6F0E6"/>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911535" cy="1097280"/>
          </a:xfrm>
          <a:prstGeom prst="rect">
            <a:avLst/>
          </a:prstGeom>
          <a:noFill/>
          <a:ln/>
        </p:spPr>
        <p:txBody>
          <a:bodyPr wrap="square" rtlCol="0"/>
          <a:lstStyle>
            <a:lvl1pPr algn="l" indent="0" marL="0">
              <a:buNone/>
              <a:defRPr lang="en-US" sz="3200" b="1" dirty="0">
                <a:solidFill>
                  <a:schemeClr val="tx1"/>
                </a:solidFill>
              </a:defRPr>
            </a:lvl1pPr>
          </a:lstStyle>
          <a:p>
            <a:pPr algn="l" indent="0" marL="0">
              <a:buNone/>
            </a:pPr>
            <a:endParaRPr lang="en-US" sz="3200" dirty="0"/>
          </a:p>
        </p:txBody>
      </p:sp>
      <p:sp>
        <p:nvSpPr>
          <p:cNvPr id="3" name="Text 0"/>
          <p:cNvSpPr/>
          <p:nvPr/>
        </p:nvSpPr>
        <p:spPr>
          <a:xfrm>
            <a:off x="640080" y="6382512"/>
            <a:ext cx="5486400" cy="274320"/>
          </a:xfrm>
          <a:prstGeom prst="rect">
            <a:avLst/>
          </a:prstGeom>
          <a:noFill/>
          <a:ln/>
        </p:spPr>
        <p:txBody>
          <a:bodyPr wrap="square" lIns="0" tIns="0" rIns="0" bIns="0" rtlCol="0" anchor="ctr"/>
          <a:lstStyle/>
          <a:p>
            <a:pPr indent="0" marL="0">
              <a:buNone/>
            </a:pPr>
            <a:r>
              <a:rPr lang="en-US" sz="1000" dirty="0">
                <a:solidFill>
                  <a:schemeClr val="tx2"/>
                </a:solidFill>
              </a:rPr>
              <a:t>Mouna  ·  Every soul deserves a voice</a:t>
            </a:r>
            <a:endParaRPr lang="en-US" sz="1000" dirty="0"/>
          </a:p>
        </p:txBody>
      </p:sp>
      <p:sp>
        <p:nvSpPr>
          <p:cNvPr id="25" name="Slide Number Placeholder 0"/>
          <p:cNvSpPr>
            <a:spLocks noGrp="1"/>
          </p:cNvSpPr>
          <p:nvPr>
            <p:ph type="sldNum" sz="quarter" idx="4294967295"/>
          </p:nvPr>
        </p:nvSpPr>
        <p:spPr>
          <a:xfrm>
            <a:off x="11002975"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02975"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hyperlink" Target="https://mouna-spike.vercel.app" TargetMode="External"/><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Voice ring 1"/>
          <p:cNvSpPr/>
          <p:nvPr/>
        </p:nvSpPr>
        <p:spPr>
          <a:xfrm>
            <a:off x="8869680" y="2560320"/>
            <a:ext cx="1737360" cy="1737360"/>
          </a:xfrm>
          <a:prstGeom prst="ellipse">
            <a:avLst/>
          </a:prstGeom>
          <a:ln w="15875">
            <a:solidFill>
              <a:schemeClr val="accent1"/>
            </a:solidFill>
            <a:prstDash val="solid"/>
          </a:ln>
        </p:spPr>
      </p:sp>
      <p:sp>
        <p:nvSpPr>
          <p:cNvPr id="3" name="Voice ring 2"/>
          <p:cNvSpPr/>
          <p:nvPr/>
        </p:nvSpPr>
        <p:spPr>
          <a:xfrm>
            <a:off x="8229600" y="1920240"/>
            <a:ext cx="3017520" cy="3017520"/>
          </a:xfrm>
          <a:prstGeom prst="ellipse">
            <a:avLst/>
          </a:prstGeom>
          <a:ln w="15875">
            <a:solidFill>
              <a:schemeClr val="accent1">
                <a:alpha val="70000"/>
              </a:schemeClr>
            </a:solidFill>
            <a:prstDash val="solid"/>
          </a:ln>
        </p:spPr>
      </p:sp>
      <p:sp>
        <p:nvSpPr>
          <p:cNvPr id="4" name="Voice ring 3"/>
          <p:cNvSpPr/>
          <p:nvPr/>
        </p:nvSpPr>
        <p:spPr>
          <a:xfrm>
            <a:off x="7589520" y="1280160"/>
            <a:ext cx="4297680" cy="4297680"/>
          </a:xfrm>
          <a:prstGeom prst="ellipse">
            <a:avLst/>
          </a:prstGeom>
          <a:ln w="15875">
            <a:solidFill>
              <a:schemeClr val="accent1">
                <a:alpha val="45000"/>
              </a:schemeClr>
            </a:solidFill>
            <a:prstDash val="solid"/>
          </a:ln>
        </p:spPr>
      </p:sp>
      <p:sp>
        <p:nvSpPr>
          <p:cNvPr id="5" name="Voice ring 4"/>
          <p:cNvSpPr/>
          <p:nvPr/>
        </p:nvSpPr>
        <p:spPr>
          <a:xfrm>
            <a:off x="6995160" y="685800"/>
            <a:ext cx="5486400" cy="5486400"/>
          </a:xfrm>
          <a:prstGeom prst="ellipse">
            <a:avLst/>
          </a:prstGeom>
          <a:ln w="15875">
            <a:solidFill>
              <a:schemeClr val="accent1">
                <a:alpha val="22000"/>
              </a:schemeClr>
            </a:solidFill>
            <a:prstDash val="solid"/>
          </a:ln>
        </p:spPr>
      </p:sp>
      <p:sp>
        <p:nvSpPr>
          <p:cNvPr id="6" name="Voice core"/>
          <p:cNvSpPr/>
          <p:nvPr/>
        </p:nvSpPr>
        <p:spPr>
          <a:xfrm>
            <a:off x="9326880" y="3017520"/>
            <a:ext cx="822960" cy="822960"/>
          </a:xfrm>
          <a:prstGeom prst="ellipse">
            <a:avLst/>
          </a:prstGeom>
          <a:solidFill>
            <a:schemeClr val="accent1"/>
          </a:solidFill>
          <a:ln w="12700">
            <a:solidFill>
              <a:schemeClr val="accent1"/>
            </a:solidFill>
            <a:prstDash val="solid"/>
          </a:ln>
        </p:spPr>
      </p:sp>
      <p:sp>
        <p:nvSpPr>
          <p:cNvPr id="7" name="Wordmark"/>
          <p:cNvSpPr txBox="1"/>
          <p:nvPr/>
        </p:nvSpPr>
        <p:spPr>
          <a:xfrm>
            <a:off x="640080" y="914400"/>
            <a:ext cx="7315200" cy="365760"/>
          </a:xfrm>
          <a:prstGeom prst="rect">
            <a:avLst/>
          </a:prstGeom>
          <a:noFill/>
          <a:ln/>
        </p:spPr>
        <p:txBody>
          <a:bodyPr wrap="square" lIns="0" tIns="0" rIns="0" bIns="0" rtlCol="0" anchor="ctr"/>
          <a:lstStyle/>
          <a:p>
            <a:pPr indent="0" marL="0">
              <a:buNone/>
            </a:pPr>
            <a:r>
              <a:rPr lang="en-US" sz="1400" spc="300" kern="0" dirty="0">
                <a:solidFill>
                  <a:schemeClr val="tx2"/>
                </a:solidFill>
              </a:rPr>
              <a:t>MOUNA   ·   மௌனம்   ·   ಮೌನ   ·   मौन</a:t>
            </a:r>
            <a:endParaRPr lang="en-US" sz="1400" dirty="0"/>
          </a:p>
        </p:txBody>
      </p:sp>
      <p:sp>
        <p:nvSpPr>
          <p:cNvPr id="8" name="Cover title"/>
          <p:cNvSpPr txBox="1"/>
          <p:nvPr/>
        </p:nvSpPr>
        <p:spPr>
          <a:xfrm>
            <a:off x="640080" y="1737360"/>
            <a:ext cx="6949440" cy="2743200"/>
          </a:xfrm>
          <a:prstGeom prst="rect">
            <a:avLst/>
          </a:prstGeom>
          <a:noFill/>
          <a:ln/>
        </p:spPr>
        <p:txBody>
          <a:bodyPr wrap="square" lIns="0" tIns="0" rIns="0" bIns="0" rtlCol="0" anchor="t"/>
          <a:lstStyle/>
          <a:p>
            <a:pPr indent="0" marL="0">
              <a:buNone/>
            </a:pPr>
            <a:r>
              <a:rPr lang="en-US" sz="6200" b="1" dirty="0">
                <a:solidFill>
                  <a:schemeClr val="tx1"/>
                </a:solidFill>
                <a:latin typeface="+mj-lt" pitchFamily="34" charset="0"/>
                <a:ea typeface="+mj-lt" pitchFamily="34" charset="-122"/>
                <a:cs typeface="+mj-lt" pitchFamily="34" charset="-120"/>
              </a:rPr>
              <a:t>Every soul deserves a </a:t>
            </a:r>
            <a:pPr indent="0" marL="0">
              <a:buNone/>
            </a:pPr>
            <a:r>
              <a:rPr lang="en-US" sz="6200" b="1" dirty="0">
                <a:solidFill>
                  <a:schemeClr val="accent1"/>
                </a:solidFill>
                <a:latin typeface="+mj-lt" pitchFamily="34" charset="0"/>
                <a:ea typeface="+mj-lt" pitchFamily="34" charset="-122"/>
                <a:cs typeface="+mj-lt" pitchFamily="34" charset="-120"/>
              </a:rPr>
              <a:t>voice.</a:t>
            </a:r>
            <a:endParaRPr lang="en-US" sz="6200" dirty="0"/>
          </a:p>
        </p:txBody>
      </p:sp>
      <p:sp>
        <p:nvSpPr>
          <p:cNvPr id="9" name="Cover subtitle"/>
          <p:cNvSpPr txBox="1"/>
          <p:nvPr/>
        </p:nvSpPr>
        <p:spPr>
          <a:xfrm>
            <a:off x="640080" y="4663440"/>
            <a:ext cx="5943600" cy="822960"/>
          </a:xfrm>
          <a:prstGeom prst="rect">
            <a:avLst/>
          </a:prstGeom>
          <a:noFill/>
          <a:ln/>
        </p:spPr>
        <p:txBody>
          <a:bodyPr wrap="square" lIns="0" tIns="0" rIns="0" bIns="0" rtlCol="0" anchor="ctr"/>
          <a:lstStyle/>
          <a:p>
            <a:pPr indent="0" marL="0">
              <a:buNone/>
            </a:pPr>
            <a:r>
              <a:rPr lang="en-US" sz="1800" dirty="0">
                <a:solidFill>
                  <a:schemeClr val="tx2"/>
                </a:solidFill>
              </a:rPr>
              <a:t>A phone app that turns a silent mouth or a sign into speech, in the language the listener needs.</a:t>
            </a:r>
            <a:endParaRPr lang="en-US" sz="1800" dirty="0"/>
          </a:p>
        </p:txBody>
      </p:sp>
      <p:sp>
        <p:nvSpPr>
          <p:cNvPr id="10" name="Event line"/>
          <p:cNvSpPr txBox="1"/>
          <p:nvPr/>
        </p:nvSpPr>
        <p:spPr>
          <a:xfrm>
            <a:off x="640080" y="6126480"/>
            <a:ext cx="7315200" cy="274320"/>
          </a:xfrm>
          <a:prstGeom prst="rect">
            <a:avLst/>
          </a:prstGeom>
          <a:noFill/>
          <a:ln/>
        </p:spPr>
        <p:txBody>
          <a:bodyPr wrap="square" lIns="0" tIns="0" rIns="0" bIns="0" rtlCol="0" anchor="ctr"/>
          <a:lstStyle/>
          <a:p>
            <a:pPr indent="0" marL="0">
              <a:buNone/>
            </a:pPr>
            <a:r>
              <a:rPr lang="en-US" sz="1200" dirty="0">
                <a:solidFill>
                  <a:schemeClr val="tx2"/>
                </a:solidFill>
              </a:rPr>
              <a:t>iQOO Hackathon 2026  ·  Grand Finale  ·  Bengaluru</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911535" cy="1097280"/>
          </a:xfrm>
          <a:prstGeom prst="rect">
            <a:avLst/>
          </a:prstGeom>
          <a:noFill/>
          <a:ln/>
        </p:spPr>
        <p:txBody>
          <a:bodyPr wrap="square" lIns="0" tIns="0" rIns="0" bIns="0" rtlCol="0" anchor="t"/>
          <a:lstStyle/>
          <a:p>
            <a:pPr algn="l" indent="0" marL="0">
              <a:buNone/>
            </a:pPr>
            <a:r>
              <a:rPr lang="en-US" sz="3200" b="1" dirty="0">
                <a:solidFill>
                  <a:schemeClr val="tx1"/>
                </a:solidFill>
              </a:rPr>
              <a:t>Over </a:t>
            </a:r>
            <a:pPr algn="l" indent="0" marL="0">
              <a:buNone/>
            </a:pPr>
            <a:r>
              <a:rPr lang="en-US" sz="3200" b="1" dirty="0">
                <a:solidFill>
                  <a:schemeClr val="accent1"/>
                </a:solidFill>
              </a:rPr>
              <a:t>97 million</a:t>
            </a:r>
            <a:pPr algn="l" indent="0" marL="0">
              <a:buNone/>
            </a:pPr>
            <a:r>
              <a:rPr lang="en-US" sz="3200" b="1" dirty="0">
                <a:solidFill>
                  <a:schemeClr val="tx1"/>
                </a:solidFill>
              </a:rPr>
              <a:t> people cannot rely on their voice, and the help available is scarce</a:t>
            </a:r>
            <a:endParaRPr lang="en-US" sz="3200" dirty="0"/>
          </a:p>
        </p:txBody>
      </p:sp>
      <p:sp>
        <p:nvSpPr>
          <p:cNvPr id="3" name="Global chart card"/>
          <p:cNvSpPr/>
          <p:nvPr/>
        </p:nvSpPr>
        <p:spPr>
          <a:xfrm>
            <a:off x="640080" y="1783080"/>
            <a:ext cx="6583680" cy="4251960"/>
          </a:xfrm>
          <a:prstGeom prst="roundRect">
            <a:avLst>
              <a:gd name="adj" fmla="val 2581"/>
            </a:avLst>
          </a:prstGeom>
          <a:solidFill>
            <a:schemeClr val="bg2"/>
          </a:solidFill>
          <a:ln w="9525">
            <a:solidFill>
              <a:schemeClr val="accent4"/>
            </a:solidFill>
            <a:prstDash val="solid"/>
          </a:ln>
          <a:effectLst>
            <a:outerShdw sx="100000" sy="100000" kx="0" ky="0" algn="bl" rotWithShape="0" blurRad="101600" dist="25400" dir="5400000">
              <a:srgbClr val="6E6862">
                <a:alpha val="14000"/>
              </a:srgbClr>
            </a:outerShdw>
          </a:effectLst>
        </p:spPr>
      </p:sp>
      <p:sp>
        <p:nvSpPr>
          <p:cNvPr id="4" name="Chart title"/>
          <p:cNvSpPr txBox="1"/>
          <p:nvPr/>
        </p:nvSpPr>
        <p:spPr>
          <a:xfrm>
            <a:off x="960120" y="1920240"/>
            <a:ext cx="5943600" cy="365760"/>
          </a:xfrm>
          <a:prstGeom prst="rect">
            <a:avLst/>
          </a:prstGeom>
          <a:noFill/>
          <a:ln/>
        </p:spPr>
        <p:txBody>
          <a:bodyPr wrap="square" lIns="0" tIns="0" rIns="0" bIns="0" rtlCol="0" anchor="ctr"/>
          <a:lstStyle/>
          <a:p>
            <a:pPr indent="0" marL="0">
              <a:buNone/>
            </a:pPr>
            <a:r>
              <a:rPr lang="en-US" sz="1600" b="1" dirty="0">
                <a:solidFill>
                  <a:schemeClr val="tx1"/>
                </a:solidFill>
              </a:rPr>
              <a:t>People affected worldwide, in millions</a:t>
            </a:r>
            <a:endParaRPr lang="en-US" sz="1600" dirty="0"/>
          </a:p>
        </p:txBody>
      </p:sp>
      <p:graphicFrame>
        <p:nvGraphicFramePr>
          <p:cNvPr id="5" name="Chart 0" descr="Bar chart: 430 million people with disabling hearing loss, 97 million who cannot rely on speech, 70 million deaf people who use sign language."/>
          <p:cNvGraphicFramePr/>
          <p:nvPr/>
        </p:nvGraphicFramePr>
        <p:xfrm>
          <a:off x="868680" y="2331720"/>
          <a:ext cx="6126480" cy="2834640"/>
        </p:xfrm>
        <a:graphic xmlns:a="http://schemas.openxmlformats.org/drawingml/2006/main">
          <a:graphicData uri="http://schemas.openxmlformats.org/drawingml/2006/chart">
            <c:chart xmlns:c="http://schemas.openxmlformats.org/drawingml/2006/chart" r:id="rId1"/>
          </a:graphicData>
        </a:graphic>
      </p:graphicFrame>
      <p:sp>
        <p:nvSpPr>
          <p:cNvPr id="6" name="Chart takeaway"/>
          <p:cNvSpPr txBox="1"/>
          <p:nvPr/>
        </p:nvSpPr>
        <p:spPr>
          <a:xfrm>
            <a:off x="960120" y="5212080"/>
            <a:ext cx="5943600" cy="320040"/>
          </a:xfrm>
          <a:prstGeom prst="rect">
            <a:avLst/>
          </a:prstGeom>
          <a:noFill/>
          <a:ln/>
        </p:spPr>
        <p:txBody>
          <a:bodyPr wrap="square" lIns="0" tIns="0" rIns="0" bIns="0" rtlCol="0" anchor="ctr"/>
          <a:lstStyle/>
          <a:p>
            <a:pPr indent="0" marL="0">
              <a:buNone/>
            </a:pPr>
            <a:r>
              <a:rPr lang="en-US" sz="1200" dirty="0">
                <a:solidFill>
                  <a:schemeClr val="tx2"/>
                </a:solidFill>
              </a:rPr>
              <a:t>Groups overlap, so we never add them up. Highlighted: the group Mouna is built for first.</a:t>
            </a:r>
            <a:endParaRPr lang="en-US" sz="1200" dirty="0"/>
          </a:p>
        </p:txBody>
      </p:sp>
      <p:sp>
        <p:nvSpPr>
          <p:cNvPr id="7" name="Chart sources"/>
          <p:cNvSpPr txBox="1"/>
          <p:nvPr/>
        </p:nvSpPr>
        <p:spPr>
          <a:xfrm>
            <a:off x="960120" y="5532120"/>
            <a:ext cx="5943600" cy="411480"/>
          </a:xfrm>
          <a:prstGeom prst="rect">
            <a:avLst/>
          </a:prstGeom>
          <a:noFill/>
          <a:ln/>
        </p:spPr>
        <p:txBody>
          <a:bodyPr wrap="square" lIns="0" tIns="0" rIns="0" bIns="0" rtlCol="0" anchor="ctr"/>
          <a:lstStyle/>
          <a:p>
            <a:pPr indent="0" marL="0">
              <a:buNone/>
            </a:pPr>
            <a:r>
              <a:rPr lang="en-US" sz="1000" dirty="0">
                <a:solidFill>
                  <a:schemeClr val="tx2"/>
                </a:solidFill>
              </a:rPr>
              <a:t>Sources: WHO fact sheet on hearing loss (2026); J. Light, Penn State (AAC research); World Federation of the Deaf.</a:t>
            </a:r>
            <a:endParaRPr lang="en-US" sz="1000" dirty="0"/>
          </a:p>
        </p:txBody>
      </p:sp>
      <p:sp>
        <p:nvSpPr>
          <p:cNvPr id="8" name="India stat 1 card"/>
          <p:cNvSpPr/>
          <p:nvPr/>
        </p:nvSpPr>
        <p:spPr>
          <a:xfrm>
            <a:off x="7498080" y="1783080"/>
            <a:ext cx="4053535" cy="1280160"/>
          </a:xfrm>
          <a:prstGeom prst="roundRect">
            <a:avLst>
              <a:gd name="adj" fmla="val 8571"/>
            </a:avLst>
          </a:prstGeom>
          <a:solidFill>
            <a:schemeClr val="bg2"/>
          </a:solidFill>
          <a:ln w="9525">
            <a:solidFill>
              <a:schemeClr val="accent4"/>
            </a:solidFill>
            <a:prstDash val="solid"/>
          </a:ln>
          <a:effectLst>
            <a:outerShdw sx="100000" sy="100000" kx="0" ky="0" algn="bl" rotWithShape="0" blurRad="101600" dist="25400" dir="5400000">
              <a:srgbClr val="6E6862">
                <a:alpha val="14000"/>
              </a:srgbClr>
            </a:outerShdw>
          </a:effectLst>
        </p:spPr>
      </p:sp>
      <p:sp>
        <p:nvSpPr>
          <p:cNvPr id="9" name="India stat 1 value"/>
          <p:cNvSpPr txBox="1"/>
          <p:nvPr/>
        </p:nvSpPr>
        <p:spPr>
          <a:xfrm>
            <a:off x="7772400" y="1874520"/>
            <a:ext cx="3504895" cy="566928"/>
          </a:xfrm>
          <a:prstGeom prst="rect">
            <a:avLst/>
          </a:prstGeom>
          <a:noFill/>
          <a:ln/>
        </p:spPr>
        <p:txBody>
          <a:bodyPr wrap="square" lIns="0" tIns="0" rIns="0" bIns="0" rtlCol="0" anchor="b"/>
          <a:lstStyle/>
          <a:p>
            <a:pPr indent="0" marL="0">
              <a:buNone/>
            </a:pPr>
            <a:r>
              <a:rPr lang="en-US" sz="3400" b="1" dirty="0">
                <a:solidFill>
                  <a:schemeClr val="accent1"/>
                </a:solidFill>
                <a:latin typeface="+mj-lt" pitchFamily="34" charset="0"/>
                <a:ea typeface="+mj-lt" pitchFamily="34" charset="-122"/>
                <a:cs typeface="+mj-lt" pitchFamily="34" charset="-120"/>
              </a:rPr>
              <a:t>≈1.9 million</a:t>
            </a:r>
            <a:endParaRPr lang="en-US" sz="3400" dirty="0"/>
          </a:p>
        </p:txBody>
      </p:sp>
      <p:sp>
        <p:nvSpPr>
          <p:cNvPr id="10" name="India stat 1 label"/>
          <p:cNvSpPr txBox="1"/>
          <p:nvPr/>
        </p:nvSpPr>
        <p:spPr>
          <a:xfrm>
            <a:off x="7772400" y="2478024"/>
            <a:ext cx="3504895" cy="457200"/>
          </a:xfrm>
          <a:prstGeom prst="rect">
            <a:avLst/>
          </a:prstGeom>
          <a:noFill/>
          <a:ln/>
        </p:spPr>
        <p:txBody>
          <a:bodyPr wrap="square" lIns="0" tIns="0" rIns="0" bIns="0" rtlCol="0" anchor="t"/>
          <a:lstStyle/>
          <a:p>
            <a:pPr indent="0" marL="0">
              <a:buNone/>
            </a:pPr>
            <a:r>
              <a:rPr lang="en-US" sz="1400" dirty="0">
                <a:solidFill>
                  <a:schemeClr val="tx1"/>
                </a:solidFill>
              </a:rPr>
              <a:t>Indians with a speech disability (Census 2011)</a:t>
            </a:r>
            <a:endParaRPr lang="en-US" sz="1400" dirty="0"/>
          </a:p>
        </p:txBody>
      </p:sp>
      <p:sp>
        <p:nvSpPr>
          <p:cNvPr id="11" name="India stat 2 card"/>
          <p:cNvSpPr/>
          <p:nvPr/>
        </p:nvSpPr>
        <p:spPr>
          <a:xfrm>
            <a:off x="7498080" y="3268980"/>
            <a:ext cx="4053535" cy="1280160"/>
          </a:xfrm>
          <a:prstGeom prst="roundRect">
            <a:avLst>
              <a:gd name="adj" fmla="val 8571"/>
            </a:avLst>
          </a:prstGeom>
          <a:solidFill>
            <a:schemeClr val="bg2"/>
          </a:solidFill>
          <a:ln w="9525">
            <a:solidFill>
              <a:schemeClr val="accent4"/>
            </a:solidFill>
            <a:prstDash val="solid"/>
          </a:ln>
          <a:effectLst>
            <a:outerShdw sx="100000" sy="100000" kx="0" ky="0" algn="bl" rotWithShape="0" blurRad="101600" dist="25400" dir="5400000">
              <a:srgbClr val="6E6862">
                <a:alpha val="14000"/>
              </a:srgbClr>
            </a:outerShdw>
          </a:effectLst>
        </p:spPr>
      </p:sp>
      <p:sp>
        <p:nvSpPr>
          <p:cNvPr id="12" name="India stat 2 value"/>
          <p:cNvSpPr txBox="1"/>
          <p:nvPr/>
        </p:nvSpPr>
        <p:spPr>
          <a:xfrm>
            <a:off x="7772400" y="3360420"/>
            <a:ext cx="3504895" cy="566928"/>
          </a:xfrm>
          <a:prstGeom prst="rect">
            <a:avLst/>
          </a:prstGeom>
          <a:noFill/>
          <a:ln/>
        </p:spPr>
        <p:txBody>
          <a:bodyPr wrap="square" lIns="0" tIns="0" rIns="0" bIns="0" rtlCol="0" anchor="b"/>
          <a:lstStyle/>
          <a:p>
            <a:pPr indent="0" marL="0">
              <a:buNone/>
            </a:pPr>
            <a:r>
              <a:rPr lang="en-US" sz="3400" b="1" dirty="0">
                <a:solidFill>
                  <a:schemeClr val="accent1"/>
                </a:solidFill>
                <a:latin typeface="+mj-lt" pitchFamily="34" charset="0"/>
                <a:ea typeface="+mj-lt" pitchFamily="34" charset="-122"/>
                <a:cs typeface="+mj-lt" pitchFamily="34" charset="-120"/>
              </a:rPr>
              <a:t>≈300</a:t>
            </a:r>
            <a:endParaRPr lang="en-US" sz="3400" dirty="0"/>
          </a:p>
        </p:txBody>
      </p:sp>
      <p:sp>
        <p:nvSpPr>
          <p:cNvPr id="13" name="India stat 2 label"/>
          <p:cNvSpPr txBox="1"/>
          <p:nvPr/>
        </p:nvSpPr>
        <p:spPr>
          <a:xfrm>
            <a:off x="7772400" y="3963924"/>
            <a:ext cx="3504895" cy="457200"/>
          </a:xfrm>
          <a:prstGeom prst="rect">
            <a:avLst/>
          </a:prstGeom>
          <a:noFill/>
          <a:ln/>
        </p:spPr>
        <p:txBody>
          <a:bodyPr wrap="square" lIns="0" tIns="0" rIns="0" bIns="0" rtlCol="0" anchor="t"/>
          <a:lstStyle/>
          <a:p>
            <a:pPr indent="0" marL="0">
              <a:buNone/>
            </a:pPr>
            <a:r>
              <a:rPr lang="en-US" sz="1400" dirty="0">
                <a:solidFill>
                  <a:schemeClr val="tx1"/>
                </a:solidFill>
              </a:rPr>
              <a:t>certified Indian Sign Language interpreters for about 5 million deaf Indians (ISLRTC)</a:t>
            </a:r>
            <a:endParaRPr lang="en-US" sz="1400" dirty="0"/>
          </a:p>
        </p:txBody>
      </p:sp>
      <p:sp>
        <p:nvSpPr>
          <p:cNvPr id="14" name="India stat 3 card"/>
          <p:cNvSpPr/>
          <p:nvPr/>
        </p:nvSpPr>
        <p:spPr>
          <a:xfrm>
            <a:off x="7498080" y="4754880"/>
            <a:ext cx="4053535" cy="1280160"/>
          </a:xfrm>
          <a:prstGeom prst="roundRect">
            <a:avLst>
              <a:gd name="adj" fmla="val 8571"/>
            </a:avLst>
          </a:prstGeom>
          <a:solidFill>
            <a:schemeClr val="bg2"/>
          </a:solidFill>
          <a:ln w="9525">
            <a:solidFill>
              <a:schemeClr val="accent4"/>
            </a:solidFill>
            <a:prstDash val="solid"/>
          </a:ln>
          <a:effectLst>
            <a:outerShdw sx="100000" sy="100000" kx="0" ky="0" algn="bl" rotWithShape="0" blurRad="101600" dist="25400" dir="5400000">
              <a:srgbClr val="6E6862">
                <a:alpha val="14000"/>
              </a:srgbClr>
            </a:outerShdw>
          </a:effectLst>
        </p:spPr>
      </p:sp>
      <p:sp>
        <p:nvSpPr>
          <p:cNvPr id="15" name="India stat 3 value"/>
          <p:cNvSpPr txBox="1"/>
          <p:nvPr/>
        </p:nvSpPr>
        <p:spPr>
          <a:xfrm>
            <a:off x="7772400" y="4846320"/>
            <a:ext cx="3504895" cy="566928"/>
          </a:xfrm>
          <a:prstGeom prst="rect">
            <a:avLst/>
          </a:prstGeom>
          <a:noFill/>
          <a:ln/>
        </p:spPr>
        <p:txBody>
          <a:bodyPr wrap="square" lIns="0" tIns="0" rIns="0" bIns="0" rtlCol="0" anchor="b"/>
          <a:lstStyle/>
          <a:p>
            <a:pPr indent="0" marL="0">
              <a:buNone/>
            </a:pPr>
            <a:r>
              <a:rPr lang="en-US" sz="3400" b="1" dirty="0">
                <a:solidFill>
                  <a:schemeClr val="accent1"/>
                </a:solidFill>
                <a:latin typeface="+mj-lt" pitchFamily="34" charset="0"/>
                <a:ea typeface="+mj-lt" pitchFamily="34" charset="-122"/>
                <a:cs typeface="+mj-lt" pitchFamily="34" charset="-120"/>
              </a:rPr>
              <a:t>≈2,500</a:t>
            </a:r>
            <a:endParaRPr lang="en-US" sz="3400" dirty="0"/>
          </a:p>
        </p:txBody>
      </p:sp>
      <p:sp>
        <p:nvSpPr>
          <p:cNvPr id="16" name="India stat 3 label"/>
          <p:cNvSpPr txBox="1"/>
          <p:nvPr/>
        </p:nvSpPr>
        <p:spPr>
          <a:xfrm>
            <a:off x="7772400" y="5449824"/>
            <a:ext cx="3504895" cy="457200"/>
          </a:xfrm>
          <a:prstGeom prst="rect">
            <a:avLst/>
          </a:prstGeom>
          <a:noFill/>
          <a:ln/>
        </p:spPr>
        <p:txBody>
          <a:bodyPr wrap="square" lIns="0" tIns="0" rIns="0" bIns="0" rtlCol="0" anchor="t"/>
          <a:lstStyle/>
          <a:p>
            <a:pPr indent="0" marL="0">
              <a:buNone/>
            </a:pPr>
            <a:r>
              <a:rPr lang="en-US" sz="1400" dirty="0">
                <a:solidFill>
                  <a:schemeClr val="tx1"/>
                </a:solidFill>
              </a:rPr>
              <a:t>speech therapists and audiologists for the whole country (ISHA, 2017)</a:t>
            </a:r>
            <a:endParaRPr lang="en-US" sz="1400" dirty="0"/>
          </a:p>
        </p:txBody>
      </p:sp>
      <p:sp>
        <p:nvSpPr>
          <p:cNvPr id="25" name="Slide Number Placeholder 0"/>
          <p:cNvSpPr>
            <a:spLocks noGrp="1"/>
          </p:cNvSpPr>
          <p:nvPr>
            <p:ph type="sldNum" sz="quarter" idx="4294967295"/>
          </p:nvPr>
        </p:nvSpPr>
        <p:spPr>
          <a:xfrm>
            <a:off x="11002975"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911535" cy="1097280"/>
          </a:xfrm>
          <a:prstGeom prst="rect">
            <a:avLst/>
          </a:prstGeom>
          <a:noFill/>
          <a:ln/>
        </p:spPr>
        <p:txBody>
          <a:bodyPr wrap="square" lIns="0" tIns="0" rIns="0" bIns="0" rtlCol="0" anchor="t"/>
          <a:lstStyle/>
          <a:p>
            <a:pPr algn="l" indent="0" marL="0">
              <a:buNone/>
            </a:pPr>
            <a:r>
              <a:rPr lang="en-US" sz="3200" b="1" dirty="0">
                <a:solidFill>
                  <a:schemeClr val="tx1"/>
                </a:solidFill>
              </a:rPr>
              <a:t>Mouth it or sign it. Mouna </a:t>
            </a:r>
            <a:pPr algn="l" indent="0" marL="0">
              <a:buNone/>
            </a:pPr>
            <a:r>
              <a:rPr lang="en-US" sz="3200" b="1" dirty="0">
                <a:solidFill>
                  <a:schemeClr val="accent1"/>
                </a:solidFill>
              </a:rPr>
              <a:t>speaks it</a:t>
            </a:r>
            <a:pPr algn="l" indent="0" marL="0">
              <a:buNone/>
            </a:pPr>
            <a:r>
              <a:rPr lang="en-US" sz="3200" b="1" dirty="0">
                <a:solidFill>
                  <a:schemeClr val="tx1"/>
                </a:solidFill>
              </a:rPr>
              <a:t> in the language the listener needs</a:t>
            </a:r>
            <a:endParaRPr lang="en-US" sz="3200" dirty="0"/>
          </a:p>
        </p:txBody>
      </p:sp>
      <p:sp>
        <p:nvSpPr>
          <p:cNvPr id="3" name="Step card 1"/>
          <p:cNvSpPr/>
          <p:nvPr/>
        </p:nvSpPr>
        <p:spPr>
          <a:xfrm>
            <a:off x="640080" y="1783080"/>
            <a:ext cx="2148840" cy="2834640"/>
          </a:xfrm>
          <a:prstGeom prst="roundRect">
            <a:avLst>
              <a:gd name="adj" fmla="val 5106"/>
            </a:avLst>
          </a:prstGeom>
          <a:solidFill>
            <a:schemeClr val="bg2"/>
          </a:solidFill>
          <a:ln w="9525">
            <a:solidFill>
              <a:schemeClr val="accent4"/>
            </a:solidFill>
            <a:prstDash val="solid"/>
          </a:ln>
          <a:effectLst>
            <a:outerShdw sx="100000" sy="100000" kx="0" ky="0" algn="bl" rotWithShape="0" blurRad="101600" dist="25400" dir="5400000">
              <a:srgbClr val="6E6862">
                <a:alpha val="14000"/>
              </a:srgbClr>
            </a:outerShdw>
          </a:effectLst>
        </p:spPr>
      </p:sp>
      <p:sp>
        <p:nvSpPr>
          <p:cNvPr id="4" name="Step badge 1"/>
          <p:cNvSpPr/>
          <p:nvPr/>
        </p:nvSpPr>
        <p:spPr>
          <a:xfrm>
            <a:off x="868680" y="2011680"/>
            <a:ext cx="411480" cy="411480"/>
          </a:xfrm>
          <a:prstGeom prst="ellipse">
            <a:avLst/>
          </a:prstGeom>
          <a:solidFill>
            <a:schemeClr val="accent1"/>
          </a:solidFill>
          <a:ln w="12700">
            <a:solidFill>
              <a:schemeClr val="accent1"/>
            </a:solidFill>
            <a:prstDash val="solid"/>
          </a:ln>
        </p:spPr>
      </p:sp>
      <p:sp>
        <p:nvSpPr>
          <p:cNvPr id="5" name="Step badge 1 number"/>
          <p:cNvSpPr txBox="1"/>
          <p:nvPr/>
        </p:nvSpPr>
        <p:spPr>
          <a:xfrm>
            <a:off x="868680" y="2011680"/>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6" name="Step title 1"/>
          <p:cNvSpPr txBox="1"/>
          <p:nvPr/>
        </p:nvSpPr>
        <p:spPr>
          <a:xfrm>
            <a:off x="868680" y="2560320"/>
            <a:ext cx="1691640" cy="685800"/>
          </a:xfrm>
          <a:prstGeom prst="rect">
            <a:avLst/>
          </a:prstGeom>
          <a:noFill/>
          <a:ln/>
        </p:spPr>
        <p:txBody>
          <a:bodyPr wrap="square" lIns="0" tIns="0" rIns="0" bIns="0" rtlCol="0" anchor="t"/>
          <a:lstStyle/>
          <a:p>
            <a:pPr indent="0" marL="0">
              <a:buNone/>
            </a:pPr>
            <a:r>
              <a:rPr lang="en-US" sz="1900" b="1" dirty="0">
                <a:solidFill>
                  <a:schemeClr val="tx1"/>
                </a:solidFill>
                <a:latin typeface="+mj-lt" pitchFamily="34" charset="0"/>
                <a:ea typeface="+mj-lt" pitchFamily="34" charset="-122"/>
                <a:cs typeface="+mj-lt" pitchFamily="34" charset="-120"/>
              </a:rPr>
              <a:t>Mouth or sign</a:t>
            </a:r>
            <a:endParaRPr lang="en-US" sz="1900" dirty="0"/>
          </a:p>
        </p:txBody>
      </p:sp>
      <p:sp>
        <p:nvSpPr>
          <p:cNvPr id="7" name="Step body 1"/>
          <p:cNvSpPr txBox="1"/>
          <p:nvPr/>
        </p:nvSpPr>
        <p:spPr>
          <a:xfrm>
            <a:off x="868680" y="3291840"/>
            <a:ext cx="1691640" cy="1234440"/>
          </a:xfrm>
          <a:prstGeom prst="rect">
            <a:avLst/>
          </a:prstGeom>
          <a:noFill/>
          <a:ln/>
        </p:spPr>
        <p:txBody>
          <a:bodyPr wrap="square" lIns="0" tIns="0" rIns="0" bIns="0" rtlCol="0" anchor="t"/>
          <a:lstStyle/>
          <a:p>
            <a:pPr indent="0" marL="0">
              <a:buNone/>
            </a:pPr>
            <a:r>
              <a:rPr lang="en-US" sz="1400" dirty="0">
                <a:solidFill>
                  <a:schemeClr val="tx1"/>
                </a:solidFill>
              </a:rPr>
              <a:t>Silent lip movement, Indian Sign Language, or any movement that still works: a nod, a blink, a look.</a:t>
            </a:r>
            <a:endParaRPr lang="en-US" sz="1400" dirty="0"/>
          </a:p>
        </p:txBody>
      </p:sp>
      <p:sp>
        <p:nvSpPr>
          <p:cNvPr id="8" name="Flow arrow 1"/>
          <p:cNvSpPr/>
          <p:nvPr/>
        </p:nvSpPr>
        <p:spPr>
          <a:xfrm>
            <a:off x="2898648" y="3200400"/>
            <a:ext cx="443484" cy="0"/>
          </a:xfrm>
          <a:prstGeom prst="line">
            <a:avLst/>
          </a:prstGeom>
          <a:noFill/>
          <a:ln w="25400">
            <a:solidFill>
              <a:schemeClr val="accent1"/>
            </a:solidFill>
            <a:prstDash val="solid"/>
            <a:tailEnd type="triangle"/>
          </a:ln>
        </p:spPr>
      </p:sp>
      <p:sp>
        <p:nvSpPr>
          <p:cNvPr id="9" name="Step card 2"/>
          <p:cNvSpPr/>
          <p:nvPr/>
        </p:nvSpPr>
        <p:spPr>
          <a:xfrm>
            <a:off x="3451860" y="1783080"/>
            <a:ext cx="2148840" cy="2834640"/>
          </a:xfrm>
          <a:prstGeom prst="roundRect">
            <a:avLst>
              <a:gd name="adj" fmla="val 5106"/>
            </a:avLst>
          </a:prstGeom>
          <a:solidFill>
            <a:schemeClr val="bg2"/>
          </a:solidFill>
          <a:ln w="9525">
            <a:solidFill>
              <a:schemeClr val="accent4"/>
            </a:solidFill>
            <a:prstDash val="solid"/>
          </a:ln>
          <a:effectLst>
            <a:outerShdw sx="100000" sy="100000" kx="0" ky="0" algn="bl" rotWithShape="0" blurRad="101600" dist="25400" dir="5400000">
              <a:srgbClr val="6E6862">
                <a:alpha val="14000"/>
              </a:srgbClr>
            </a:outerShdw>
          </a:effectLst>
        </p:spPr>
      </p:sp>
      <p:sp>
        <p:nvSpPr>
          <p:cNvPr id="10" name="Step badge 2"/>
          <p:cNvSpPr/>
          <p:nvPr/>
        </p:nvSpPr>
        <p:spPr>
          <a:xfrm>
            <a:off x="3680460" y="2011680"/>
            <a:ext cx="411480" cy="411480"/>
          </a:xfrm>
          <a:prstGeom prst="ellipse">
            <a:avLst/>
          </a:prstGeom>
          <a:solidFill>
            <a:schemeClr val="accent1"/>
          </a:solidFill>
          <a:ln w="12700">
            <a:solidFill>
              <a:schemeClr val="accent1"/>
            </a:solidFill>
            <a:prstDash val="solid"/>
          </a:ln>
        </p:spPr>
      </p:sp>
      <p:sp>
        <p:nvSpPr>
          <p:cNvPr id="11" name="Step badge 2 number"/>
          <p:cNvSpPr txBox="1"/>
          <p:nvPr/>
        </p:nvSpPr>
        <p:spPr>
          <a:xfrm>
            <a:off x="3680460" y="2011680"/>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2" name="Step title 2"/>
          <p:cNvSpPr txBox="1"/>
          <p:nvPr/>
        </p:nvSpPr>
        <p:spPr>
          <a:xfrm>
            <a:off x="3680460" y="2560320"/>
            <a:ext cx="1691640" cy="685800"/>
          </a:xfrm>
          <a:prstGeom prst="rect">
            <a:avLst/>
          </a:prstGeom>
          <a:noFill/>
          <a:ln/>
        </p:spPr>
        <p:txBody>
          <a:bodyPr wrap="square" lIns="0" tIns="0" rIns="0" bIns="0" rtlCol="0" anchor="t"/>
          <a:lstStyle/>
          <a:p>
            <a:pPr indent="0" marL="0">
              <a:buNone/>
            </a:pPr>
            <a:r>
              <a:rPr lang="en-US" sz="1900" b="1" dirty="0">
                <a:solidFill>
                  <a:schemeClr val="tx1"/>
                </a:solidFill>
                <a:latin typeface="+mj-lt" pitchFamily="34" charset="0"/>
                <a:ea typeface="+mj-lt" pitchFamily="34" charset="-122"/>
                <a:cs typeface="+mj-lt" pitchFamily="34" charset="-120"/>
              </a:rPr>
              <a:t>Mouna understands</a:t>
            </a:r>
            <a:endParaRPr lang="en-US" sz="1900" dirty="0"/>
          </a:p>
        </p:txBody>
      </p:sp>
      <p:sp>
        <p:nvSpPr>
          <p:cNvPr id="13" name="Step body 2"/>
          <p:cNvSpPr txBox="1"/>
          <p:nvPr/>
        </p:nvSpPr>
        <p:spPr>
          <a:xfrm>
            <a:off x="3680460" y="3291840"/>
            <a:ext cx="1691640" cy="1234440"/>
          </a:xfrm>
          <a:prstGeom prst="rect">
            <a:avLst/>
          </a:prstGeom>
          <a:noFill/>
          <a:ln/>
        </p:spPr>
        <p:txBody>
          <a:bodyPr wrap="square" lIns="0" tIns="0" rIns="0" bIns="0" rtlCol="0" anchor="t"/>
          <a:lstStyle/>
          <a:p>
            <a:pPr indent="0" marL="0">
              <a:buNone/>
            </a:pPr>
            <a:r>
              <a:rPr lang="en-US" sz="1400" dirty="0">
                <a:solidFill>
                  <a:schemeClr val="tx1"/>
                </a:solidFill>
              </a:rPr>
              <a:t>It learns how this person moves from a few examples. When unsure, it shows choices instead of guessing.</a:t>
            </a:r>
            <a:endParaRPr lang="en-US" sz="1400" dirty="0"/>
          </a:p>
        </p:txBody>
      </p:sp>
      <p:sp>
        <p:nvSpPr>
          <p:cNvPr id="14" name="Flow arrow 2"/>
          <p:cNvSpPr/>
          <p:nvPr/>
        </p:nvSpPr>
        <p:spPr>
          <a:xfrm>
            <a:off x="5710428" y="3200400"/>
            <a:ext cx="443484" cy="0"/>
          </a:xfrm>
          <a:prstGeom prst="line">
            <a:avLst/>
          </a:prstGeom>
          <a:noFill/>
          <a:ln w="25400">
            <a:solidFill>
              <a:schemeClr val="accent1"/>
            </a:solidFill>
            <a:prstDash val="solid"/>
            <a:tailEnd type="triangle"/>
          </a:ln>
        </p:spPr>
      </p:sp>
      <p:sp>
        <p:nvSpPr>
          <p:cNvPr id="15" name="Step card 3"/>
          <p:cNvSpPr/>
          <p:nvPr/>
        </p:nvSpPr>
        <p:spPr>
          <a:xfrm>
            <a:off x="6263640" y="1783080"/>
            <a:ext cx="2148840" cy="2834640"/>
          </a:xfrm>
          <a:prstGeom prst="roundRect">
            <a:avLst>
              <a:gd name="adj" fmla="val 5106"/>
            </a:avLst>
          </a:prstGeom>
          <a:solidFill>
            <a:schemeClr val="bg2"/>
          </a:solidFill>
          <a:ln w="9525">
            <a:solidFill>
              <a:schemeClr val="accent4"/>
            </a:solidFill>
            <a:prstDash val="solid"/>
          </a:ln>
          <a:effectLst>
            <a:outerShdw sx="100000" sy="100000" kx="0" ky="0" algn="bl" rotWithShape="0" blurRad="101600" dist="25400" dir="5400000">
              <a:srgbClr val="6E6862">
                <a:alpha val="14000"/>
              </a:srgbClr>
            </a:outerShdw>
          </a:effectLst>
        </p:spPr>
      </p:sp>
      <p:sp>
        <p:nvSpPr>
          <p:cNvPr id="16" name="Step badge 3"/>
          <p:cNvSpPr/>
          <p:nvPr/>
        </p:nvSpPr>
        <p:spPr>
          <a:xfrm>
            <a:off x="6492240" y="2011680"/>
            <a:ext cx="411480" cy="411480"/>
          </a:xfrm>
          <a:prstGeom prst="ellipse">
            <a:avLst/>
          </a:prstGeom>
          <a:solidFill>
            <a:schemeClr val="accent1"/>
          </a:solidFill>
          <a:ln w="12700">
            <a:solidFill>
              <a:schemeClr val="accent1"/>
            </a:solidFill>
            <a:prstDash val="solid"/>
          </a:ln>
        </p:spPr>
      </p:sp>
      <p:sp>
        <p:nvSpPr>
          <p:cNvPr id="17" name="Step badge 3 number"/>
          <p:cNvSpPr txBox="1"/>
          <p:nvPr/>
        </p:nvSpPr>
        <p:spPr>
          <a:xfrm>
            <a:off x="6492240" y="2011680"/>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8" name="Step title 3"/>
          <p:cNvSpPr txBox="1"/>
          <p:nvPr/>
        </p:nvSpPr>
        <p:spPr>
          <a:xfrm>
            <a:off x="6492240" y="2560320"/>
            <a:ext cx="1691640" cy="685800"/>
          </a:xfrm>
          <a:prstGeom prst="rect">
            <a:avLst/>
          </a:prstGeom>
          <a:noFill/>
          <a:ln/>
        </p:spPr>
        <p:txBody>
          <a:bodyPr wrap="square" lIns="0" tIns="0" rIns="0" bIns="0" rtlCol="0" anchor="t"/>
          <a:lstStyle/>
          <a:p>
            <a:pPr indent="0" marL="0">
              <a:buNone/>
            </a:pPr>
            <a:r>
              <a:rPr lang="en-US" sz="1900" b="1" dirty="0">
                <a:solidFill>
                  <a:schemeClr val="tx1"/>
                </a:solidFill>
                <a:latin typeface="+mj-lt" pitchFamily="34" charset="0"/>
                <a:ea typeface="+mj-lt" pitchFamily="34" charset="-122"/>
                <a:cs typeface="+mj-lt" pitchFamily="34" charset="-120"/>
              </a:rPr>
              <a:t>Speaks in any language</a:t>
            </a:r>
            <a:endParaRPr lang="en-US" sz="1900" dirty="0"/>
          </a:p>
        </p:txBody>
      </p:sp>
      <p:sp>
        <p:nvSpPr>
          <p:cNvPr id="19" name="Step body 3"/>
          <p:cNvSpPr txBox="1"/>
          <p:nvPr/>
        </p:nvSpPr>
        <p:spPr>
          <a:xfrm>
            <a:off x="6492240" y="3291840"/>
            <a:ext cx="1691640" cy="1234440"/>
          </a:xfrm>
          <a:prstGeom prst="rect">
            <a:avLst/>
          </a:prstGeom>
          <a:noFill/>
          <a:ln/>
        </p:spPr>
        <p:txBody>
          <a:bodyPr wrap="square" lIns="0" tIns="0" rIns="0" bIns="0" rtlCol="0" anchor="t"/>
          <a:lstStyle/>
          <a:p>
            <a:pPr indent="0" marL="0">
              <a:buNone/>
            </a:pPr>
            <a:r>
              <a:rPr lang="en-US" sz="1400" dirty="0">
                <a:solidFill>
                  <a:schemeClr val="tx1"/>
                </a:solidFill>
              </a:rPr>
              <a:t>Out loud in English, Hindi, Tamil or Kannada, with more to come. Nothing leaves the phone.</a:t>
            </a:r>
            <a:endParaRPr lang="en-US" sz="1400" dirty="0"/>
          </a:p>
        </p:txBody>
      </p:sp>
      <p:sp>
        <p:nvSpPr>
          <p:cNvPr id="20" name="Example callout"/>
          <p:cNvSpPr/>
          <p:nvPr/>
        </p:nvSpPr>
        <p:spPr>
          <a:xfrm>
            <a:off x="640080" y="4892040"/>
            <a:ext cx="7772400" cy="1143000"/>
          </a:xfrm>
          <a:prstGeom prst="roundRect">
            <a:avLst>
              <a:gd name="adj" fmla="val 9600"/>
            </a:avLst>
          </a:prstGeom>
          <a:solidFill>
            <a:schemeClr val="accent1"/>
          </a:solidFill>
          <a:ln w="12700">
            <a:solidFill>
              <a:schemeClr val="accent1"/>
            </a:solidFill>
            <a:prstDash val="solid"/>
          </a:ln>
        </p:spPr>
      </p:sp>
      <p:sp>
        <p:nvSpPr>
          <p:cNvPr id="21" name="Example text"/>
          <p:cNvSpPr txBox="1"/>
          <p:nvPr/>
        </p:nvSpPr>
        <p:spPr>
          <a:xfrm>
            <a:off x="914400" y="4892040"/>
            <a:ext cx="7223760" cy="1143000"/>
          </a:xfrm>
          <a:prstGeom prst="rect">
            <a:avLst/>
          </a:prstGeom>
          <a:noFill/>
          <a:ln/>
        </p:spPr>
        <p:txBody>
          <a:bodyPr wrap="square" lIns="0" tIns="0" rIns="0" bIns="0" rtlCol="0" anchor="ctr"/>
          <a:lstStyle/>
          <a:p>
            <a:pPr indent="0" marL="0">
              <a:buNone/>
            </a:pPr>
            <a:r>
              <a:rPr lang="en-US" sz="1600" b="1" dirty="0">
                <a:solidFill>
                  <a:schemeClr val="bg1"/>
                </a:solidFill>
              </a:rPr>
              <a:t>In practice</a:t>
            </a:r>
            <a:endParaRPr lang="en-US" sz="1600" dirty="0"/>
          </a:p>
          <a:p>
            <a:pPr indent="0" marL="0">
              <a:buNone/>
            </a:pPr>
            <a:r>
              <a:rPr lang="en-US" sz="1600" dirty="0">
                <a:solidFill>
                  <a:schemeClr val="bg1"/>
                </a:solidFill>
              </a:rPr>
              <a:t>A patient mouths “I need water” in Tamil. The nurse hears it in Kannada, instantly, with no internet.</a:t>
            </a:r>
            <a:endParaRPr lang="en-US" sz="1600" dirty="0"/>
          </a:p>
        </p:txBody>
      </p:sp>
      <p:sp>
        <p:nvSpPr>
          <p:cNvPr id="22" name="Phone frame"/>
          <p:cNvSpPr/>
          <p:nvPr/>
        </p:nvSpPr>
        <p:spPr>
          <a:xfrm>
            <a:off x="9025128" y="1709928"/>
            <a:ext cx="1977390" cy="4215384"/>
          </a:xfrm>
          <a:prstGeom prst="roundRect">
            <a:avLst>
              <a:gd name="adj" fmla="val 10173"/>
            </a:avLst>
          </a:prstGeom>
          <a:solidFill>
            <a:schemeClr val="tx1"/>
          </a:solidFill>
          <a:ln w="12700">
            <a:solidFill>
              <a:schemeClr val="tx1"/>
            </a:solidFill>
            <a:prstDash val="solid"/>
          </a:ln>
          <a:effectLst>
            <a:outerShdw sx="100000" sy="100000" kx="0" ky="0" algn="bl" rotWithShape="0" blurRad="101600" dist="25400" dir="5400000">
              <a:srgbClr val="6E6862">
                <a:alpha val="14000"/>
              </a:srgbClr>
            </a:outerShdw>
          </a:effectLst>
        </p:spPr>
      </p:sp>
      <p:pic>
        <p:nvPicPr>
          <p:cNvPr id="23" name="App screenshot" descr="Mouna app screen in Sign mode with a person signing to the camera, with Lips, Voice and Sign modes at the bottom of the camera view">    </p:cNvPr>
          <p:cNvPicPr>
            <a:picLocks noChangeAspect="1"/>
          </p:cNvPicPr>
          <p:nvPr/>
        </p:nvPicPr>
        <p:blipFill>
          <a:blip r:embed="rId1"/>
          <a:stretch>
            <a:fillRect/>
          </a:stretch>
        </p:blipFill>
        <p:spPr>
          <a:xfrm>
            <a:off x="9098280" y="1783080"/>
            <a:ext cx="1831086" cy="4069080"/>
          </a:xfrm>
          <a:prstGeom prst="rect">
            <a:avLst/>
          </a:prstGeom>
        </p:spPr>
      </p:pic>
      <p:sp>
        <p:nvSpPr>
          <p:cNvPr id="24" name="Screenshot caption"/>
          <p:cNvSpPr txBox="1"/>
          <p:nvPr/>
        </p:nvSpPr>
        <p:spPr>
          <a:xfrm>
            <a:off x="8595360" y="6035040"/>
            <a:ext cx="2836926" cy="274320"/>
          </a:xfrm>
          <a:prstGeom prst="rect">
            <a:avLst/>
          </a:prstGeom>
          <a:noFill/>
          <a:ln/>
        </p:spPr>
        <p:txBody>
          <a:bodyPr wrap="square" lIns="0" tIns="0" rIns="0" bIns="0" rtlCol="0" anchor="ctr"/>
          <a:lstStyle/>
          <a:p>
            <a:pPr algn="ctr" indent="0" marL="0">
              <a:buNone/>
            </a:pPr>
            <a:r>
              <a:rPr lang="en-US" sz="1100" dirty="0">
                <a:solidFill>
                  <a:schemeClr val="tx2"/>
                </a:solidFill>
              </a:rPr>
              <a:t>The Mouna app: Lips, Voice or Sign</a:t>
            </a:r>
            <a:endParaRPr lang="en-US" sz="1100" dirty="0"/>
          </a:p>
        </p:txBody>
      </p:sp>
      <p:sp>
        <p:nvSpPr>
          <p:cNvPr id="25" name="Slide Number Placeholder 0"/>
          <p:cNvSpPr>
            <a:spLocks noGrp="1"/>
          </p:cNvSpPr>
          <p:nvPr>
            <p:ph type="sldNum" sz="quarter" idx="4294967295"/>
          </p:nvPr>
        </p:nvSpPr>
        <p:spPr>
          <a:xfrm>
            <a:off x="11002975"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911535" cy="1097280"/>
          </a:xfrm>
          <a:prstGeom prst="rect">
            <a:avLst/>
          </a:prstGeom>
          <a:noFill/>
          <a:ln/>
        </p:spPr>
        <p:txBody>
          <a:bodyPr wrap="square" lIns="0" tIns="0" rIns="0" bIns="0" rtlCol="0" anchor="t"/>
          <a:lstStyle/>
          <a:p>
            <a:pPr algn="l" indent="0" marL="0">
              <a:buNone/>
            </a:pPr>
            <a:r>
              <a:rPr lang="en-US" sz="3200" b="1" dirty="0">
                <a:solidFill>
                  <a:schemeClr val="tx1"/>
                </a:solidFill>
              </a:rPr>
              <a:t>It works today: </a:t>
            </a:r>
            <a:pPr algn="l" indent="0" marL="0">
              <a:buNone/>
            </a:pPr>
            <a:r>
              <a:rPr lang="en-US" sz="3200" b="1" dirty="0">
                <a:solidFill>
                  <a:schemeClr val="accent1"/>
                </a:solidFill>
              </a:rPr>
              <a:t>89% right</a:t>
            </a:r>
            <a:pPr algn="l" indent="0" marL="0">
              <a:buNone/>
            </a:pPr>
            <a:r>
              <a:rPr lang="en-US" sz="3200" b="1" dirty="0">
                <a:solidFill>
                  <a:schemeClr val="tx1"/>
                </a:solidFill>
              </a:rPr>
              <a:t> after teaching just five examples</a:t>
            </a:r>
            <a:endParaRPr lang="en-US" sz="3200" dirty="0"/>
          </a:p>
        </p:txBody>
      </p:sp>
      <p:sp>
        <p:nvSpPr>
          <p:cNvPr id="3" name="Accuracy chart card"/>
          <p:cNvSpPr/>
          <p:nvPr/>
        </p:nvSpPr>
        <p:spPr>
          <a:xfrm>
            <a:off x="640080" y="1783080"/>
            <a:ext cx="6309360" cy="4023360"/>
          </a:xfrm>
          <a:prstGeom prst="roundRect">
            <a:avLst>
              <a:gd name="adj" fmla="val 2727"/>
            </a:avLst>
          </a:prstGeom>
          <a:solidFill>
            <a:schemeClr val="bg2"/>
          </a:solidFill>
          <a:ln w="9525">
            <a:solidFill>
              <a:schemeClr val="accent4"/>
            </a:solidFill>
            <a:prstDash val="solid"/>
          </a:ln>
          <a:effectLst>
            <a:outerShdw sx="100000" sy="100000" kx="0" ky="0" algn="bl" rotWithShape="0" blurRad="101600" dist="25400" dir="5400000">
              <a:srgbClr val="6E6862">
                <a:alpha val="14000"/>
              </a:srgbClr>
            </a:outerShdw>
          </a:effectLst>
        </p:spPr>
      </p:sp>
      <p:sp>
        <p:nvSpPr>
          <p:cNvPr id="4" name="Chart title"/>
          <p:cNvSpPr txBox="1"/>
          <p:nvPr/>
        </p:nvSpPr>
        <p:spPr>
          <a:xfrm>
            <a:off x="960120" y="1920240"/>
            <a:ext cx="5669280" cy="365760"/>
          </a:xfrm>
          <a:prstGeom prst="rect">
            <a:avLst/>
          </a:prstGeom>
          <a:noFill/>
          <a:ln/>
        </p:spPr>
        <p:txBody>
          <a:bodyPr wrap="square" lIns="0" tIns="0" rIns="0" bIns="0" rtlCol="0" anchor="ctr"/>
          <a:lstStyle/>
          <a:p>
            <a:pPr indent="0" marL="0">
              <a:buNone/>
            </a:pPr>
            <a:r>
              <a:rPr lang="en-US" sz="1600" b="1" dirty="0">
                <a:solidFill>
                  <a:schemeClr val="tx1"/>
                </a:solidFill>
              </a:rPr>
              <a:t>Right phrase on the first guess, by examples taught (%)</a:t>
            </a:r>
            <a:endParaRPr lang="en-US" sz="1600" dirty="0"/>
          </a:p>
        </p:txBody>
      </p:sp>
      <p:graphicFrame>
        <p:nvGraphicFramePr>
          <p:cNvPr id="5" name="Chart 0" descr="Column chart: right phrase on first guess is 71.9 percent with 1 example, 85.2 percent with 3 examples and 89.0 percent with 5 examples."/>
          <p:cNvGraphicFramePr/>
          <p:nvPr/>
        </p:nvGraphicFramePr>
        <p:xfrm>
          <a:off x="868680" y="2331720"/>
          <a:ext cx="5852160" cy="2834640"/>
        </p:xfrm>
        <a:graphic xmlns:a="http://schemas.openxmlformats.org/drawingml/2006/main">
          <a:graphicData uri="http://schemas.openxmlformats.org/drawingml/2006/chart">
            <c:chart xmlns:c="http://schemas.openxmlformats.org/drawingml/2006/chart" r:id="rId1"/>
          </a:graphicData>
        </a:graphic>
      </p:graphicFrame>
      <p:sp>
        <p:nvSpPr>
          <p:cNvPr id="6" name="Chart note"/>
          <p:cNvSpPr txBox="1"/>
          <p:nvPr/>
        </p:nvSpPr>
        <p:spPr>
          <a:xfrm>
            <a:off x="960120" y="5166360"/>
            <a:ext cx="5669280" cy="548640"/>
          </a:xfrm>
          <a:prstGeom prst="rect">
            <a:avLst/>
          </a:prstGeom>
          <a:noFill/>
          <a:ln/>
        </p:spPr>
        <p:txBody>
          <a:bodyPr wrap="square" lIns="0" tIns="0" rIns="0" bIns="0" rtlCol="0" anchor="ctr"/>
          <a:lstStyle/>
          <a:p>
            <a:pPr indent="0" marL="0">
              <a:buNone/>
            </a:pPr>
            <a:r>
              <a:rPr lang="en-US" sz="1100" dirty="0">
                <a:solidFill>
                  <a:schemeClr val="tx2"/>
                </a:solidFill>
              </a:rPr>
              <a:t>Public Kannada lip-reading dataset: 7 speakers, 27 words and phrases, learned per speaker, tested on clips never shown during teaching.</a:t>
            </a:r>
            <a:endParaRPr lang="en-US" sz="1100" dirty="0"/>
          </a:p>
        </p:txBody>
      </p:sp>
      <p:sp>
        <p:nvSpPr>
          <p:cNvPr id="7" name="Proof stat 1 card"/>
          <p:cNvSpPr/>
          <p:nvPr/>
        </p:nvSpPr>
        <p:spPr>
          <a:xfrm>
            <a:off x="7406640" y="1783080"/>
            <a:ext cx="4144975" cy="1188720"/>
          </a:xfrm>
          <a:prstGeom prst="roundRect">
            <a:avLst>
              <a:gd name="adj" fmla="val 9231"/>
            </a:avLst>
          </a:prstGeom>
          <a:solidFill>
            <a:schemeClr val="bg2"/>
          </a:solidFill>
          <a:ln w="9525">
            <a:solidFill>
              <a:schemeClr val="accent4"/>
            </a:solidFill>
            <a:prstDash val="solid"/>
          </a:ln>
          <a:effectLst>
            <a:outerShdw sx="100000" sy="100000" kx="0" ky="0" algn="bl" rotWithShape="0" blurRad="101600" dist="25400" dir="5400000">
              <a:srgbClr val="6E6862">
                <a:alpha val="14000"/>
              </a:srgbClr>
            </a:outerShdw>
          </a:effectLst>
        </p:spPr>
      </p:sp>
      <p:sp>
        <p:nvSpPr>
          <p:cNvPr id="8" name="Proof stat 1 value"/>
          <p:cNvSpPr txBox="1"/>
          <p:nvPr/>
        </p:nvSpPr>
        <p:spPr>
          <a:xfrm>
            <a:off x="7680960" y="1874520"/>
            <a:ext cx="3596335" cy="566928"/>
          </a:xfrm>
          <a:prstGeom prst="rect">
            <a:avLst/>
          </a:prstGeom>
          <a:noFill/>
          <a:ln/>
        </p:spPr>
        <p:txBody>
          <a:bodyPr wrap="square" lIns="0" tIns="0" rIns="0" bIns="0" rtlCol="0" anchor="b"/>
          <a:lstStyle/>
          <a:p>
            <a:pPr indent="0" marL="0">
              <a:buNone/>
            </a:pPr>
            <a:r>
              <a:rPr lang="en-US" sz="3200" b="1" dirty="0">
                <a:solidFill>
                  <a:schemeClr val="accent1"/>
                </a:solidFill>
                <a:latin typeface="+mj-lt" pitchFamily="34" charset="0"/>
                <a:ea typeface="+mj-lt" pitchFamily="34" charset="-122"/>
                <a:cs typeface="+mj-lt" pitchFamily="34" charset="-120"/>
              </a:rPr>
              <a:t>99.5%</a:t>
            </a:r>
            <a:endParaRPr lang="en-US" sz="3200" dirty="0"/>
          </a:p>
        </p:txBody>
      </p:sp>
      <p:sp>
        <p:nvSpPr>
          <p:cNvPr id="9" name="Proof stat 1 label"/>
          <p:cNvSpPr txBox="1"/>
          <p:nvPr/>
        </p:nvSpPr>
        <p:spPr>
          <a:xfrm>
            <a:off x="7680960" y="2478024"/>
            <a:ext cx="3596335" cy="365760"/>
          </a:xfrm>
          <a:prstGeom prst="rect">
            <a:avLst/>
          </a:prstGeom>
          <a:noFill/>
          <a:ln/>
        </p:spPr>
        <p:txBody>
          <a:bodyPr wrap="square" lIns="0" tIns="0" rIns="0" bIns="0" rtlCol="0" anchor="t"/>
          <a:lstStyle/>
          <a:p>
            <a:pPr indent="0" marL="0">
              <a:buNone/>
            </a:pPr>
            <a:r>
              <a:rPr lang="en-US" sz="1400" dirty="0">
                <a:solidFill>
                  <a:schemeClr val="tx1"/>
                </a:solidFill>
              </a:rPr>
              <a:t>right whenever Mouna decides to speak (held-out speakers)</a:t>
            </a:r>
            <a:endParaRPr lang="en-US" sz="1400" dirty="0"/>
          </a:p>
        </p:txBody>
      </p:sp>
      <p:sp>
        <p:nvSpPr>
          <p:cNvPr id="10" name="Proof stat 2 card"/>
          <p:cNvSpPr/>
          <p:nvPr/>
        </p:nvSpPr>
        <p:spPr>
          <a:xfrm>
            <a:off x="7406640" y="3200400"/>
            <a:ext cx="4144975" cy="1188720"/>
          </a:xfrm>
          <a:prstGeom prst="roundRect">
            <a:avLst>
              <a:gd name="adj" fmla="val 9231"/>
            </a:avLst>
          </a:prstGeom>
          <a:solidFill>
            <a:schemeClr val="bg2"/>
          </a:solidFill>
          <a:ln w="9525">
            <a:solidFill>
              <a:schemeClr val="accent4"/>
            </a:solidFill>
            <a:prstDash val="solid"/>
          </a:ln>
          <a:effectLst>
            <a:outerShdw sx="100000" sy="100000" kx="0" ky="0" algn="bl" rotWithShape="0" blurRad="101600" dist="25400" dir="5400000">
              <a:srgbClr val="6E6862">
                <a:alpha val="14000"/>
              </a:srgbClr>
            </a:outerShdw>
          </a:effectLst>
        </p:spPr>
      </p:sp>
      <p:sp>
        <p:nvSpPr>
          <p:cNvPr id="11" name="Proof stat 2 value"/>
          <p:cNvSpPr txBox="1"/>
          <p:nvPr/>
        </p:nvSpPr>
        <p:spPr>
          <a:xfrm>
            <a:off x="7680960" y="3291840"/>
            <a:ext cx="3596335" cy="566928"/>
          </a:xfrm>
          <a:prstGeom prst="rect">
            <a:avLst/>
          </a:prstGeom>
          <a:noFill/>
          <a:ln/>
        </p:spPr>
        <p:txBody>
          <a:bodyPr wrap="square" lIns="0" tIns="0" rIns="0" bIns="0" rtlCol="0" anchor="b"/>
          <a:lstStyle/>
          <a:p>
            <a:pPr indent="0" marL="0">
              <a:buNone/>
            </a:pPr>
            <a:r>
              <a:rPr lang="en-US" sz="3200" b="1" dirty="0">
                <a:solidFill>
                  <a:schemeClr val="accent1"/>
                </a:solidFill>
                <a:latin typeface="+mj-lt" pitchFamily="34" charset="0"/>
                <a:ea typeface="+mj-lt" pitchFamily="34" charset="-122"/>
                <a:cs typeface="+mj-lt" pitchFamily="34" charset="-120"/>
              </a:rPr>
              <a:t>18 ms</a:t>
            </a:r>
            <a:endParaRPr lang="en-US" sz="3200" dirty="0"/>
          </a:p>
        </p:txBody>
      </p:sp>
      <p:sp>
        <p:nvSpPr>
          <p:cNvPr id="12" name="Proof stat 2 label"/>
          <p:cNvSpPr txBox="1"/>
          <p:nvPr/>
        </p:nvSpPr>
        <p:spPr>
          <a:xfrm>
            <a:off x="7680960" y="3895344"/>
            <a:ext cx="3596335" cy="365760"/>
          </a:xfrm>
          <a:prstGeom prst="rect">
            <a:avLst/>
          </a:prstGeom>
          <a:noFill/>
          <a:ln/>
        </p:spPr>
        <p:txBody>
          <a:bodyPr wrap="square" lIns="0" tIns="0" rIns="0" bIns="0" rtlCol="0" anchor="t"/>
          <a:lstStyle/>
          <a:p>
            <a:pPr indent="0" marL="0">
              <a:buNone/>
            </a:pPr>
            <a:r>
              <a:rPr lang="en-US" sz="1400" dirty="0">
                <a:solidFill>
                  <a:schemeClr val="tx1"/>
                </a:solidFill>
              </a:rPr>
              <a:t>to read 1.9 seconds of lips on the phone’s NPU (iQOO 15 chip), offline</a:t>
            </a:r>
            <a:endParaRPr lang="en-US" sz="1400" dirty="0"/>
          </a:p>
        </p:txBody>
      </p:sp>
      <p:sp>
        <p:nvSpPr>
          <p:cNvPr id="13" name="Proof stat 3 card"/>
          <p:cNvSpPr/>
          <p:nvPr/>
        </p:nvSpPr>
        <p:spPr>
          <a:xfrm>
            <a:off x="7406640" y="4617720"/>
            <a:ext cx="4144975" cy="1188720"/>
          </a:xfrm>
          <a:prstGeom prst="roundRect">
            <a:avLst>
              <a:gd name="adj" fmla="val 9231"/>
            </a:avLst>
          </a:prstGeom>
          <a:solidFill>
            <a:schemeClr val="bg2"/>
          </a:solidFill>
          <a:ln w="9525">
            <a:solidFill>
              <a:schemeClr val="accent4"/>
            </a:solidFill>
            <a:prstDash val="solid"/>
          </a:ln>
          <a:effectLst>
            <a:outerShdw sx="100000" sy="100000" kx="0" ky="0" algn="bl" rotWithShape="0" blurRad="101600" dist="25400" dir="5400000">
              <a:srgbClr val="6E6862">
                <a:alpha val="14000"/>
              </a:srgbClr>
            </a:outerShdw>
          </a:effectLst>
        </p:spPr>
      </p:sp>
      <p:sp>
        <p:nvSpPr>
          <p:cNvPr id="14" name="Proof stat 3 value"/>
          <p:cNvSpPr txBox="1"/>
          <p:nvPr/>
        </p:nvSpPr>
        <p:spPr>
          <a:xfrm>
            <a:off x="7680960" y="4709160"/>
            <a:ext cx="3596335" cy="566928"/>
          </a:xfrm>
          <a:prstGeom prst="rect">
            <a:avLst/>
          </a:prstGeom>
          <a:noFill/>
          <a:ln/>
        </p:spPr>
        <p:txBody>
          <a:bodyPr wrap="square" lIns="0" tIns="0" rIns="0" bIns="0" rtlCol="0" anchor="b"/>
          <a:lstStyle/>
          <a:p>
            <a:pPr indent="0" marL="0">
              <a:buNone/>
            </a:pPr>
            <a:r>
              <a:rPr lang="en-US" sz="3200" b="1" dirty="0">
                <a:solidFill>
                  <a:schemeClr val="accent1"/>
                </a:solidFill>
                <a:latin typeface="+mj-lt" pitchFamily="34" charset="0"/>
                <a:ea typeface="+mj-lt" pitchFamily="34" charset="-122"/>
                <a:cs typeface="+mj-lt" pitchFamily="34" charset="-120"/>
              </a:rPr>
              <a:t>23% → 7%</a:t>
            </a:r>
            <a:endParaRPr lang="en-US" sz="3200" dirty="0"/>
          </a:p>
        </p:txBody>
      </p:sp>
      <p:sp>
        <p:nvSpPr>
          <p:cNvPr id="15" name="Proof stat 3 label"/>
          <p:cNvSpPr txBox="1"/>
          <p:nvPr/>
        </p:nvSpPr>
        <p:spPr>
          <a:xfrm>
            <a:off x="7680960" y="5312664"/>
            <a:ext cx="3596335" cy="365760"/>
          </a:xfrm>
          <a:prstGeom prst="rect">
            <a:avLst/>
          </a:prstGeom>
          <a:noFill/>
          <a:ln/>
        </p:spPr>
        <p:txBody>
          <a:bodyPr wrap="square" lIns="0" tIns="0" rIns="0" bIns="0" rtlCol="0" anchor="t"/>
          <a:lstStyle/>
          <a:p>
            <a:pPr indent="0" marL="0">
              <a:buNone/>
            </a:pPr>
            <a:r>
              <a:rPr lang="en-US" sz="1400" dirty="0">
                <a:solidFill>
                  <a:schemeClr val="tx1"/>
                </a:solidFill>
              </a:rPr>
              <a:t>words it was never taught, spoken by mistake, before and after Careful mode</a:t>
            </a:r>
            <a:endParaRPr lang="en-US" sz="1400" dirty="0"/>
          </a:p>
        </p:txBody>
      </p:sp>
      <p:sp>
        <p:nvSpPr>
          <p:cNvPr id="16" name="Honesty note"/>
          <p:cNvSpPr txBox="1"/>
          <p:nvPr/>
        </p:nvSpPr>
        <p:spPr>
          <a:xfrm>
            <a:off x="640080" y="5943600"/>
            <a:ext cx="10911535" cy="365760"/>
          </a:xfrm>
          <a:prstGeom prst="rect">
            <a:avLst/>
          </a:prstGeom>
          <a:noFill/>
          <a:ln/>
        </p:spPr>
        <p:txBody>
          <a:bodyPr wrap="square" lIns="0" tIns="0" rIns="0" bIns="0" rtlCol="0" anchor="ctr"/>
          <a:lstStyle/>
          <a:p>
            <a:pPr indent="0" marL="0">
              <a:buNone/>
            </a:pPr>
            <a:r>
              <a:rPr lang="en-US" sz="1200" i="1" dirty="0">
                <a:solidFill>
                  <a:schemeClr val="tx2"/>
                </a:solidFill>
              </a:rPr>
              <a:t>Measured on a public dataset and on-device profiling (Qualcomm AI Hub). Tests on our own silent-speech recordings and with real signers come next.</a:t>
            </a:r>
            <a:endParaRPr lang="en-US" sz="1200" dirty="0"/>
          </a:p>
        </p:txBody>
      </p:sp>
      <p:sp>
        <p:nvSpPr>
          <p:cNvPr id="25" name="Slide Number Placeholder 0"/>
          <p:cNvSpPr>
            <a:spLocks noGrp="1"/>
          </p:cNvSpPr>
          <p:nvPr>
            <p:ph type="sldNum" sz="quarter" idx="4294967295"/>
          </p:nvPr>
        </p:nvSpPr>
        <p:spPr>
          <a:xfrm>
            <a:off x="11002975"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911535" cy="1097280"/>
          </a:xfrm>
          <a:prstGeom prst="rect">
            <a:avLst/>
          </a:prstGeom>
          <a:noFill/>
          <a:ln/>
        </p:spPr>
        <p:txBody>
          <a:bodyPr wrap="square" lIns="0" tIns="0" rIns="0" bIns="0" rtlCol="0" anchor="t"/>
          <a:lstStyle/>
          <a:p>
            <a:pPr algn="l" indent="0" marL="0">
              <a:buNone/>
            </a:pPr>
            <a:r>
              <a:rPr lang="en-US" sz="3200" b="1" dirty="0">
                <a:solidFill>
                  <a:schemeClr val="tx1"/>
                </a:solidFill>
              </a:rPr>
              <a:t>Everything runs on the phone: see, understand, </a:t>
            </a:r>
            <a:pPr algn="l" indent="0" marL="0">
              <a:buNone/>
            </a:pPr>
            <a:r>
              <a:rPr lang="en-US" sz="3200" b="1" dirty="0">
                <a:solidFill>
                  <a:schemeClr val="accent1"/>
                </a:solidFill>
              </a:rPr>
              <a:t>decide</a:t>
            </a:r>
            <a:pPr algn="l" indent="0" marL="0">
              <a:buNone/>
            </a:pPr>
            <a:r>
              <a:rPr lang="en-US" sz="3200" b="1" dirty="0">
                <a:solidFill>
                  <a:schemeClr val="tx1"/>
                </a:solidFill>
              </a:rPr>
              <a:t>, then speak</a:t>
            </a:r>
            <a:endParaRPr lang="en-US" sz="3200" dirty="0"/>
          </a:p>
        </p:txBody>
      </p:sp>
      <p:sp>
        <p:nvSpPr>
          <p:cNvPr id="3" name="Layer card 1"/>
          <p:cNvSpPr/>
          <p:nvPr/>
        </p:nvSpPr>
        <p:spPr>
          <a:xfrm>
            <a:off x="640080" y="1783080"/>
            <a:ext cx="2423160" cy="3246120"/>
          </a:xfrm>
          <a:prstGeom prst="roundRect">
            <a:avLst>
              <a:gd name="adj" fmla="val 4528"/>
            </a:avLst>
          </a:prstGeom>
          <a:solidFill>
            <a:schemeClr val="bg2"/>
          </a:solidFill>
          <a:ln w="9525">
            <a:solidFill>
              <a:schemeClr val="accent4"/>
            </a:solidFill>
            <a:prstDash val="solid"/>
          </a:ln>
          <a:effectLst>
            <a:outerShdw sx="100000" sy="100000" kx="0" ky="0" algn="bl" rotWithShape="0" blurRad="101600" dist="25400" dir="5400000">
              <a:srgbClr val="6E6862">
                <a:alpha val="14000"/>
              </a:srgbClr>
            </a:outerShdw>
          </a:effectLst>
        </p:spPr>
      </p:sp>
      <p:sp>
        <p:nvSpPr>
          <p:cNvPr id="4" name="Layer tag 1"/>
          <p:cNvSpPr txBox="1"/>
          <p:nvPr/>
        </p:nvSpPr>
        <p:spPr>
          <a:xfrm>
            <a:off x="868680" y="2011680"/>
            <a:ext cx="1965960" cy="274320"/>
          </a:xfrm>
          <a:prstGeom prst="rect">
            <a:avLst/>
          </a:prstGeom>
          <a:noFill/>
          <a:ln/>
        </p:spPr>
        <p:txBody>
          <a:bodyPr wrap="square" lIns="0" tIns="0" rIns="0" bIns="0" rtlCol="0" anchor="ctr"/>
          <a:lstStyle/>
          <a:p>
            <a:pPr indent="0" marL="0">
              <a:buNone/>
            </a:pPr>
            <a:r>
              <a:rPr lang="en-US" sz="1200" b="1" spc="200" kern="0" dirty="0">
                <a:solidFill>
                  <a:schemeClr val="accent1"/>
                </a:solidFill>
              </a:rPr>
              <a:t>SEE</a:t>
            </a:r>
            <a:endParaRPr lang="en-US" sz="1200" dirty="0"/>
          </a:p>
        </p:txBody>
      </p:sp>
      <p:sp>
        <p:nvSpPr>
          <p:cNvPr id="5" name="Layer title 1"/>
          <p:cNvSpPr txBox="1"/>
          <p:nvPr/>
        </p:nvSpPr>
        <p:spPr>
          <a:xfrm>
            <a:off x="868680" y="2331720"/>
            <a:ext cx="1965960" cy="731520"/>
          </a:xfrm>
          <a:prstGeom prst="rect">
            <a:avLst/>
          </a:prstGeom>
          <a:noFill/>
          <a:ln/>
        </p:spPr>
        <p:txBody>
          <a:bodyPr wrap="square" lIns="0" tIns="0" rIns="0" bIns="0" rtlCol="0" anchor="t"/>
          <a:lstStyle/>
          <a:p>
            <a:pPr indent="0" marL="0">
              <a:buNone/>
            </a:pPr>
            <a:r>
              <a:rPr lang="en-US" sz="1900" b="1" dirty="0">
                <a:solidFill>
                  <a:schemeClr val="tx1"/>
                </a:solidFill>
                <a:latin typeface="+mj-lt" pitchFamily="34" charset="0"/>
                <a:ea typeface="+mj-lt" pitchFamily="34" charset="-122"/>
                <a:cs typeface="+mj-lt" pitchFamily="34" charset="-120"/>
              </a:rPr>
              <a:t>Camera and landmarks</a:t>
            </a:r>
            <a:endParaRPr lang="en-US" sz="1900" dirty="0"/>
          </a:p>
        </p:txBody>
      </p:sp>
      <p:sp>
        <p:nvSpPr>
          <p:cNvPr id="6" name="Layer items 1"/>
          <p:cNvSpPr txBox="1"/>
          <p:nvPr/>
        </p:nvSpPr>
        <p:spPr>
          <a:xfrm>
            <a:off x="868680" y="3154680"/>
            <a:ext cx="1965960" cy="1691640"/>
          </a:xfrm>
          <a:prstGeom prst="rect">
            <a:avLst/>
          </a:prstGeom>
          <a:noFill/>
          <a:ln/>
        </p:spPr>
        <p:txBody>
          <a:bodyPr wrap="square" lIns="0" tIns="0" rIns="0" bIns="0" rtlCol="0" anchor="t"/>
          <a:lstStyle/>
          <a:p>
            <a:pPr indent="0" marL="0">
              <a:spcAft>
                <a:spcPts val="900"/>
              </a:spcAft>
              <a:buNone/>
            </a:pPr>
            <a:r>
              <a:rPr lang="en-US" sz="1400" dirty="0">
                <a:solidFill>
                  <a:schemeClr val="tx1"/>
                </a:solidFill>
              </a:rPr>
              <a:t>Front camera at 30 fps</a:t>
            </a:r>
            <a:endParaRPr lang="en-US" sz="1400" dirty="0"/>
          </a:p>
          <a:p>
            <a:pPr indent="0" marL="0">
              <a:spcAft>
                <a:spcPts val="900"/>
              </a:spcAft>
              <a:buNone/>
            </a:pPr>
            <a:r>
              <a:rPr lang="en-US" sz="1400" dirty="0">
                <a:solidFill>
                  <a:schemeClr val="tx1"/>
                </a:solidFill>
              </a:rPr>
              <a:t>Face, hands and body landmarks (MediaPipe)</a:t>
            </a:r>
            <a:endParaRPr lang="en-US" sz="1400" dirty="0"/>
          </a:p>
          <a:p>
            <a:pPr indent="0" marL="0">
              <a:spcAft>
                <a:spcPts val="900"/>
              </a:spcAft>
              <a:buNone/>
            </a:pPr>
            <a:r>
              <a:rPr lang="en-US" sz="1400" dirty="0">
                <a:solidFill>
                  <a:schemeClr val="tx1"/>
                </a:solidFill>
              </a:rPr>
              <a:t>Mouth cropped and cleaned up</a:t>
            </a:r>
            <a:endParaRPr lang="en-US" sz="1400" dirty="0"/>
          </a:p>
        </p:txBody>
      </p:sp>
      <p:sp>
        <p:nvSpPr>
          <p:cNvPr id="7" name="Layer arrow 1"/>
          <p:cNvSpPr/>
          <p:nvPr/>
        </p:nvSpPr>
        <p:spPr>
          <a:xfrm>
            <a:off x="3136392" y="3406140"/>
            <a:ext cx="256032" cy="0"/>
          </a:xfrm>
          <a:prstGeom prst="line">
            <a:avLst/>
          </a:prstGeom>
          <a:noFill/>
          <a:ln w="25400">
            <a:solidFill>
              <a:schemeClr val="accent1"/>
            </a:solidFill>
            <a:prstDash val="solid"/>
            <a:tailEnd type="triangle"/>
          </a:ln>
        </p:spPr>
      </p:sp>
      <p:sp>
        <p:nvSpPr>
          <p:cNvPr id="8" name="Layer card 2"/>
          <p:cNvSpPr/>
          <p:nvPr/>
        </p:nvSpPr>
        <p:spPr>
          <a:xfrm>
            <a:off x="3465576" y="1783080"/>
            <a:ext cx="2423160" cy="3246120"/>
          </a:xfrm>
          <a:prstGeom prst="roundRect">
            <a:avLst>
              <a:gd name="adj" fmla="val 4528"/>
            </a:avLst>
          </a:prstGeom>
          <a:solidFill>
            <a:schemeClr val="bg2"/>
          </a:solidFill>
          <a:ln w="9525">
            <a:solidFill>
              <a:schemeClr val="accent4"/>
            </a:solidFill>
            <a:prstDash val="solid"/>
          </a:ln>
          <a:effectLst>
            <a:outerShdw sx="100000" sy="100000" kx="0" ky="0" algn="bl" rotWithShape="0" blurRad="101600" dist="25400" dir="5400000">
              <a:srgbClr val="6E6862">
                <a:alpha val="14000"/>
              </a:srgbClr>
            </a:outerShdw>
          </a:effectLst>
        </p:spPr>
      </p:sp>
      <p:sp>
        <p:nvSpPr>
          <p:cNvPr id="9" name="Layer tag 2"/>
          <p:cNvSpPr txBox="1"/>
          <p:nvPr/>
        </p:nvSpPr>
        <p:spPr>
          <a:xfrm>
            <a:off x="3694176" y="2011680"/>
            <a:ext cx="1965960" cy="274320"/>
          </a:xfrm>
          <a:prstGeom prst="rect">
            <a:avLst/>
          </a:prstGeom>
          <a:noFill/>
          <a:ln/>
        </p:spPr>
        <p:txBody>
          <a:bodyPr wrap="square" lIns="0" tIns="0" rIns="0" bIns="0" rtlCol="0" anchor="ctr"/>
          <a:lstStyle/>
          <a:p>
            <a:pPr indent="0" marL="0">
              <a:buNone/>
            </a:pPr>
            <a:r>
              <a:rPr lang="en-US" sz="1200" b="1" spc="200" kern="0" dirty="0">
                <a:solidFill>
                  <a:schemeClr val="accent1"/>
                </a:solidFill>
              </a:rPr>
              <a:t>UNDERSTAND</a:t>
            </a:r>
            <a:endParaRPr lang="en-US" sz="1200" dirty="0"/>
          </a:p>
        </p:txBody>
      </p:sp>
      <p:sp>
        <p:nvSpPr>
          <p:cNvPr id="10" name="Layer title 2"/>
          <p:cNvSpPr txBox="1"/>
          <p:nvPr/>
        </p:nvSpPr>
        <p:spPr>
          <a:xfrm>
            <a:off x="3694176" y="2331720"/>
            <a:ext cx="1965960" cy="731520"/>
          </a:xfrm>
          <a:prstGeom prst="rect">
            <a:avLst/>
          </a:prstGeom>
          <a:noFill/>
          <a:ln/>
        </p:spPr>
        <p:txBody>
          <a:bodyPr wrap="square" lIns="0" tIns="0" rIns="0" bIns="0" rtlCol="0" anchor="t"/>
          <a:lstStyle/>
          <a:p>
            <a:pPr indent="0" marL="0">
              <a:buNone/>
            </a:pPr>
            <a:r>
              <a:rPr lang="en-US" sz="1900" b="1" dirty="0">
                <a:solidFill>
                  <a:schemeClr val="tx1"/>
                </a:solidFill>
                <a:latin typeface="+mj-lt" pitchFamily="34" charset="0"/>
                <a:ea typeface="+mj-lt" pitchFamily="34" charset="-122"/>
                <a:cs typeface="+mj-lt" pitchFamily="34" charset="-120"/>
              </a:rPr>
              <a:t>Three channels</a:t>
            </a:r>
            <a:endParaRPr lang="en-US" sz="1900" dirty="0"/>
          </a:p>
        </p:txBody>
      </p:sp>
      <p:sp>
        <p:nvSpPr>
          <p:cNvPr id="11" name="Layer items 2"/>
          <p:cNvSpPr txBox="1"/>
          <p:nvPr/>
        </p:nvSpPr>
        <p:spPr>
          <a:xfrm>
            <a:off x="3694176" y="3154680"/>
            <a:ext cx="1965960" cy="1691640"/>
          </a:xfrm>
          <a:prstGeom prst="rect">
            <a:avLst/>
          </a:prstGeom>
          <a:noFill/>
          <a:ln/>
        </p:spPr>
        <p:txBody>
          <a:bodyPr wrap="square" lIns="0" tIns="0" rIns="0" bIns="0" rtlCol="0" anchor="t"/>
          <a:lstStyle/>
          <a:p>
            <a:pPr indent="0" marL="0">
              <a:spcAft>
                <a:spcPts val="900"/>
              </a:spcAft>
              <a:buNone/>
            </a:pPr>
            <a:r>
              <a:rPr lang="en-US" sz="1400" dirty="0">
                <a:solidFill>
                  <a:schemeClr val="tx1"/>
                </a:solidFill>
              </a:rPr>
              <a:t>Lip encoder on the NPU, 18 ms</a:t>
            </a:r>
            <a:endParaRPr lang="en-US" sz="1400" dirty="0"/>
          </a:p>
          <a:p>
            <a:pPr indent="0" marL="0">
              <a:spcAft>
                <a:spcPts val="900"/>
              </a:spcAft>
              <a:buNone/>
            </a:pPr>
            <a:r>
              <a:rPr lang="en-US" sz="1400" dirty="0">
                <a:solidFill>
                  <a:schemeClr val="tx1"/>
                </a:solidFill>
              </a:rPr>
              <a:t>Indian Sign Language model, 263 signs</a:t>
            </a:r>
            <a:endParaRPr lang="en-US" sz="1400" dirty="0"/>
          </a:p>
          <a:p>
            <a:pPr indent="0" marL="0">
              <a:spcAft>
                <a:spcPts val="900"/>
              </a:spcAft>
              <a:buNone/>
            </a:pPr>
            <a:r>
              <a:rPr lang="en-US" sz="1400" dirty="0">
                <a:solidFill>
                  <a:schemeClr val="tx1"/>
                </a:solidFill>
              </a:rPr>
              <a:t>Blink, nod, gaze and personal switch</a:t>
            </a:r>
            <a:endParaRPr lang="en-US" sz="1400" dirty="0"/>
          </a:p>
        </p:txBody>
      </p:sp>
      <p:sp>
        <p:nvSpPr>
          <p:cNvPr id="12" name="Layer arrow 2"/>
          <p:cNvSpPr/>
          <p:nvPr/>
        </p:nvSpPr>
        <p:spPr>
          <a:xfrm>
            <a:off x="5961888" y="3406140"/>
            <a:ext cx="256032" cy="0"/>
          </a:xfrm>
          <a:prstGeom prst="line">
            <a:avLst/>
          </a:prstGeom>
          <a:noFill/>
          <a:ln w="25400">
            <a:solidFill>
              <a:schemeClr val="accent1"/>
            </a:solidFill>
            <a:prstDash val="solid"/>
            <a:tailEnd type="triangle"/>
          </a:ln>
        </p:spPr>
      </p:sp>
      <p:sp>
        <p:nvSpPr>
          <p:cNvPr id="13" name="Layer card 3"/>
          <p:cNvSpPr/>
          <p:nvPr/>
        </p:nvSpPr>
        <p:spPr>
          <a:xfrm>
            <a:off x="6291072" y="1783080"/>
            <a:ext cx="2423160" cy="3246120"/>
          </a:xfrm>
          <a:prstGeom prst="roundRect">
            <a:avLst>
              <a:gd name="adj" fmla="val 4528"/>
            </a:avLst>
          </a:prstGeom>
          <a:solidFill>
            <a:schemeClr val="accent1"/>
          </a:solidFill>
          <a:ln w="9525">
            <a:solidFill>
              <a:schemeClr val="accent4"/>
            </a:solidFill>
            <a:prstDash val="solid"/>
          </a:ln>
          <a:effectLst>
            <a:outerShdw sx="100000" sy="100000" kx="0" ky="0" algn="bl" rotWithShape="0" blurRad="101600" dist="25400" dir="5400000">
              <a:srgbClr val="6E6862">
                <a:alpha val="14000"/>
              </a:srgbClr>
            </a:outerShdw>
          </a:effectLst>
        </p:spPr>
      </p:sp>
      <p:sp>
        <p:nvSpPr>
          <p:cNvPr id="14" name="Layer tag 3"/>
          <p:cNvSpPr txBox="1"/>
          <p:nvPr/>
        </p:nvSpPr>
        <p:spPr>
          <a:xfrm>
            <a:off x="6519672" y="2011680"/>
            <a:ext cx="1965960" cy="274320"/>
          </a:xfrm>
          <a:prstGeom prst="rect">
            <a:avLst/>
          </a:prstGeom>
          <a:noFill/>
          <a:ln/>
        </p:spPr>
        <p:txBody>
          <a:bodyPr wrap="square" lIns="0" tIns="0" rIns="0" bIns="0" rtlCol="0" anchor="ctr"/>
          <a:lstStyle/>
          <a:p>
            <a:pPr indent="0" marL="0">
              <a:buNone/>
            </a:pPr>
            <a:r>
              <a:rPr lang="en-US" sz="1200" b="1" spc="200" kern="0" dirty="0">
                <a:solidFill>
                  <a:schemeClr val="bg1"/>
                </a:solidFill>
              </a:rPr>
              <a:t>DECIDE</a:t>
            </a:r>
            <a:endParaRPr lang="en-US" sz="1200" dirty="0"/>
          </a:p>
        </p:txBody>
      </p:sp>
      <p:sp>
        <p:nvSpPr>
          <p:cNvPr id="15" name="Layer title 3"/>
          <p:cNvSpPr txBox="1"/>
          <p:nvPr/>
        </p:nvSpPr>
        <p:spPr>
          <a:xfrm>
            <a:off x="6519672" y="2331720"/>
            <a:ext cx="1965960" cy="731520"/>
          </a:xfrm>
          <a:prstGeom prst="rect">
            <a:avLst/>
          </a:prstGeom>
          <a:noFill/>
          <a:ln/>
        </p:spPr>
        <p:txBody>
          <a:bodyPr wrap="square" lIns="0" tIns="0" rIns="0" bIns="0" rtlCol="0" anchor="t"/>
          <a:lstStyle/>
          <a:p>
            <a:pPr indent="0" marL="0">
              <a:buNone/>
            </a:pPr>
            <a:r>
              <a:rPr lang="en-US" sz="1900" b="1" dirty="0">
                <a:solidFill>
                  <a:schemeClr val="bg1"/>
                </a:solidFill>
                <a:latin typeface="+mj-lt" pitchFamily="34" charset="0"/>
                <a:ea typeface="+mj-lt" pitchFamily="34" charset="-122"/>
                <a:cs typeface="+mj-lt" pitchFamily="34" charset="-120"/>
              </a:rPr>
              <a:t>The safety core</a:t>
            </a:r>
            <a:endParaRPr lang="en-US" sz="1900" dirty="0"/>
          </a:p>
        </p:txBody>
      </p:sp>
      <p:sp>
        <p:nvSpPr>
          <p:cNvPr id="16" name="Layer items 3"/>
          <p:cNvSpPr txBox="1"/>
          <p:nvPr/>
        </p:nvSpPr>
        <p:spPr>
          <a:xfrm>
            <a:off x="6519672" y="3154680"/>
            <a:ext cx="1965960" cy="1691640"/>
          </a:xfrm>
          <a:prstGeom prst="rect">
            <a:avLst/>
          </a:prstGeom>
          <a:noFill/>
          <a:ln/>
        </p:spPr>
        <p:txBody>
          <a:bodyPr wrap="square" lIns="0" tIns="0" rIns="0" bIns="0" rtlCol="0" anchor="t"/>
          <a:lstStyle/>
          <a:p>
            <a:pPr indent="0" marL="0">
              <a:spcAft>
                <a:spcPts val="900"/>
              </a:spcAft>
              <a:buNone/>
            </a:pPr>
            <a:r>
              <a:rPr lang="en-US" sz="1400" dirty="0">
                <a:solidFill>
                  <a:schemeClr val="bg1"/>
                </a:solidFill>
              </a:rPr>
              <a:t>Learns this person from a few examples</a:t>
            </a:r>
            <a:endParaRPr lang="en-US" sz="1400" dirty="0"/>
          </a:p>
          <a:p>
            <a:pPr indent="0" marL="0">
              <a:spcAft>
                <a:spcPts val="900"/>
              </a:spcAft>
              <a:buNone/>
            </a:pPr>
            <a:r>
              <a:rPr lang="en-US" sz="1400" dirty="0">
                <a:solidFill>
                  <a:schemeClr val="bg1"/>
                </a:solidFill>
              </a:rPr>
              <a:t>Speaks only when sure, else shows 2 to 4 choices</a:t>
            </a:r>
            <a:endParaRPr lang="en-US" sz="1400" dirty="0"/>
          </a:p>
          <a:p>
            <a:pPr indent="0" marL="0">
              <a:spcAft>
                <a:spcPts val="900"/>
              </a:spcAft>
              <a:buNone/>
            </a:pPr>
            <a:r>
              <a:rPr lang="en-US" sz="1400" dirty="0">
                <a:solidFill>
                  <a:schemeClr val="bg1"/>
                </a:solidFill>
              </a:rPr>
              <a:t>Urgent actions always confirmed</a:t>
            </a:r>
            <a:endParaRPr lang="en-US" sz="1400" dirty="0"/>
          </a:p>
        </p:txBody>
      </p:sp>
      <p:sp>
        <p:nvSpPr>
          <p:cNvPr id="17" name="Layer arrow 3"/>
          <p:cNvSpPr/>
          <p:nvPr/>
        </p:nvSpPr>
        <p:spPr>
          <a:xfrm>
            <a:off x="8787384" y="3406140"/>
            <a:ext cx="256032" cy="0"/>
          </a:xfrm>
          <a:prstGeom prst="line">
            <a:avLst/>
          </a:prstGeom>
          <a:noFill/>
          <a:ln w="25400">
            <a:solidFill>
              <a:schemeClr val="accent1"/>
            </a:solidFill>
            <a:prstDash val="solid"/>
            <a:tailEnd type="triangle"/>
          </a:ln>
        </p:spPr>
      </p:sp>
      <p:sp>
        <p:nvSpPr>
          <p:cNvPr id="18" name="Layer card 4"/>
          <p:cNvSpPr/>
          <p:nvPr/>
        </p:nvSpPr>
        <p:spPr>
          <a:xfrm>
            <a:off x="9116568" y="1783080"/>
            <a:ext cx="2423160" cy="3246120"/>
          </a:xfrm>
          <a:prstGeom prst="roundRect">
            <a:avLst>
              <a:gd name="adj" fmla="val 4528"/>
            </a:avLst>
          </a:prstGeom>
          <a:solidFill>
            <a:schemeClr val="bg2"/>
          </a:solidFill>
          <a:ln w="9525">
            <a:solidFill>
              <a:schemeClr val="accent4"/>
            </a:solidFill>
            <a:prstDash val="solid"/>
          </a:ln>
          <a:effectLst>
            <a:outerShdw sx="100000" sy="100000" kx="0" ky="0" algn="bl" rotWithShape="0" blurRad="101600" dist="25400" dir="5400000">
              <a:srgbClr val="6E6862">
                <a:alpha val="14000"/>
              </a:srgbClr>
            </a:outerShdw>
          </a:effectLst>
        </p:spPr>
      </p:sp>
      <p:sp>
        <p:nvSpPr>
          <p:cNvPr id="19" name="Layer tag 4"/>
          <p:cNvSpPr txBox="1"/>
          <p:nvPr/>
        </p:nvSpPr>
        <p:spPr>
          <a:xfrm>
            <a:off x="9345168" y="2011680"/>
            <a:ext cx="1965960" cy="274320"/>
          </a:xfrm>
          <a:prstGeom prst="rect">
            <a:avLst/>
          </a:prstGeom>
          <a:noFill/>
          <a:ln/>
        </p:spPr>
        <p:txBody>
          <a:bodyPr wrap="square" lIns="0" tIns="0" rIns="0" bIns="0" rtlCol="0" anchor="ctr"/>
          <a:lstStyle/>
          <a:p>
            <a:pPr indent="0" marL="0">
              <a:buNone/>
            </a:pPr>
            <a:r>
              <a:rPr lang="en-US" sz="1200" b="1" spc="200" kern="0" dirty="0">
                <a:solidFill>
                  <a:schemeClr val="accent1"/>
                </a:solidFill>
              </a:rPr>
              <a:t>SPEAK</a:t>
            </a:r>
            <a:endParaRPr lang="en-US" sz="1200" dirty="0"/>
          </a:p>
        </p:txBody>
      </p:sp>
      <p:sp>
        <p:nvSpPr>
          <p:cNvPr id="20" name="Layer title 4"/>
          <p:cNvSpPr txBox="1"/>
          <p:nvPr/>
        </p:nvSpPr>
        <p:spPr>
          <a:xfrm>
            <a:off x="9345168" y="2331720"/>
            <a:ext cx="1965960" cy="731520"/>
          </a:xfrm>
          <a:prstGeom prst="rect">
            <a:avLst/>
          </a:prstGeom>
          <a:noFill/>
          <a:ln/>
        </p:spPr>
        <p:txBody>
          <a:bodyPr wrap="square" lIns="0" tIns="0" rIns="0" bIns="0" rtlCol="0" anchor="t"/>
          <a:lstStyle/>
          <a:p>
            <a:pPr indent="0" marL="0">
              <a:buNone/>
            </a:pPr>
            <a:r>
              <a:rPr lang="en-US" sz="1900" b="1" dirty="0">
                <a:solidFill>
                  <a:schemeClr val="tx1"/>
                </a:solidFill>
                <a:latin typeface="+mj-lt" pitchFamily="34" charset="0"/>
                <a:ea typeface="+mj-lt" pitchFamily="34" charset="-122"/>
                <a:cs typeface="+mj-lt" pitchFamily="34" charset="-120"/>
              </a:rPr>
              <a:t>Voice and delivery</a:t>
            </a:r>
            <a:endParaRPr lang="en-US" sz="1900" dirty="0"/>
          </a:p>
        </p:txBody>
      </p:sp>
      <p:sp>
        <p:nvSpPr>
          <p:cNvPr id="21" name="Layer items 4"/>
          <p:cNvSpPr txBox="1"/>
          <p:nvPr/>
        </p:nvSpPr>
        <p:spPr>
          <a:xfrm>
            <a:off x="9345168" y="3154680"/>
            <a:ext cx="1965960" cy="1691640"/>
          </a:xfrm>
          <a:prstGeom prst="rect">
            <a:avLst/>
          </a:prstGeom>
          <a:noFill/>
          <a:ln/>
        </p:spPr>
        <p:txBody>
          <a:bodyPr wrap="square" lIns="0" tIns="0" rIns="0" bIns="0" rtlCol="0" anchor="t"/>
          <a:lstStyle/>
          <a:p>
            <a:pPr indent="0" marL="0">
              <a:spcAft>
                <a:spcPts val="900"/>
              </a:spcAft>
              <a:buNone/>
            </a:pPr>
            <a:r>
              <a:rPr lang="en-US" sz="1400" dirty="0">
                <a:solidFill>
                  <a:schemeClr val="tx1"/>
                </a:solidFill>
              </a:rPr>
              <a:t>Voice in the listener’s language, offline fallback</a:t>
            </a:r>
            <a:endParaRPr lang="en-US" sz="1400" dirty="0"/>
          </a:p>
          <a:p>
            <a:pPr indent="0" marL="0">
              <a:spcAft>
                <a:spcPts val="900"/>
              </a:spcAft>
              <a:buNone/>
            </a:pPr>
            <a:r>
              <a:rPr lang="en-US" sz="1400" dirty="0">
                <a:solidFill>
                  <a:schemeClr val="tx1"/>
                </a:solidFill>
              </a:rPr>
              <a:t>Caregiver phone link, no internet</a:t>
            </a:r>
            <a:endParaRPr lang="en-US" sz="1400" dirty="0"/>
          </a:p>
          <a:p>
            <a:pPr indent="0" marL="0">
              <a:spcAft>
                <a:spcPts val="900"/>
              </a:spcAft>
              <a:buNone/>
            </a:pPr>
            <a:r>
              <a:rPr lang="en-US" sz="1400" dirty="0">
                <a:solidFill>
                  <a:schemeClr val="tx1"/>
                </a:solidFill>
              </a:rPr>
              <a:t>Web-link call, no SIM needed</a:t>
            </a:r>
            <a:endParaRPr lang="en-US" sz="1400" dirty="0"/>
          </a:p>
        </p:txBody>
      </p:sp>
      <p:sp>
        <p:nvSpPr>
          <p:cNvPr id="22" name="Privacy band"/>
          <p:cNvSpPr/>
          <p:nvPr/>
        </p:nvSpPr>
        <p:spPr>
          <a:xfrm>
            <a:off x="640080" y="5303520"/>
            <a:ext cx="10911535" cy="640080"/>
          </a:xfrm>
          <a:prstGeom prst="roundRect">
            <a:avLst>
              <a:gd name="adj" fmla="val 17143"/>
            </a:avLst>
          </a:prstGeom>
          <a:solidFill>
            <a:schemeClr val="bg2"/>
          </a:solidFill>
          <a:ln w="9525">
            <a:solidFill>
              <a:schemeClr val="accent4"/>
            </a:solidFill>
            <a:prstDash val="solid"/>
          </a:ln>
        </p:spPr>
      </p:sp>
      <p:sp>
        <p:nvSpPr>
          <p:cNvPr id="23" name="Privacy text"/>
          <p:cNvSpPr txBox="1"/>
          <p:nvPr/>
        </p:nvSpPr>
        <p:spPr>
          <a:xfrm>
            <a:off x="640080" y="5303520"/>
            <a:ext cx="10911535" cy="640080"/>
          </a:xfrm>
          <a:prstGeom prst="rect">
            <a:avLst/>
          </a:prstGeom>
          <a:noFill/>
          <a:ln/>
        </p:spPr>
        <p:txBody>
          <a:bodyPr wrap="square" lIns="0" tIns="0" rIns="0" bIns="0" rtlCol="0" anchor="ctr"/>
          <a:lstStyle/>
          <a:p>
            <a:pPr algn="ctr" indent="0" marL="0">
              <a:buNone/>
            </a:pPr>
            <a:r>
              <a:rPr lang="en-US" sz="1600" b="1" dirty="0">
                <a:solidFill>
                  <a:schemeClr val="accent1"/>
                </a:solidFill>
              </a:rPr>
              <a:t>On-device on the Snapdragon NPU  ·  no cloud needed  ·  no video stored  ·  one phone, one camera</a:t>
            </a:r>
            <a:endParaRPr lang="en-US" sz="1600" dirty="0"/>
          </a:p>
        </p:txBody>
      </p:sp>
      <p:sp>
        <p:nvSpPr>
          <p:cNvPr id="25" name="Slide Number Placeholder 0"/>
          <p:cNvSpPr>
            <a:spLocks noGrp="1"/>
          </p:cNvSpPr>
          <p:nvPr>
            <p:ph type="sldNum" sz="quarter" idx="4294967295"/>
          </p:nvPr>
        </p:nvSpPr>
        <p:spPr>
          <a:xfrm>
            <a:off x="11002975"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911535" cy="1097280"/>
          </a:xfrm>
          <a:prstGeom prst="rect">
            <a:avLst/>
          </a:prstGeom>
          <a:noFill/>
          <a:ln/>
        </p:spPr>
        <p:txBody>
          <a:bodyPr wrap="square" lIns="0" tIns="0" rIns="0" bIns="0" rtlCol="0" anchor="t"/>
          <a:lstStyle/>
          <a:p>
            <a:pPr algn="l" indent="0" marL="0">
              <a:buNone/>
            </a:pPr>
            <a:r>
              <a:rPr lang="en-US" sz="3200" b="1" dirty="0">
                <a:solidFill>
                  <a:schemeClr val="tx1"/>
                </a:solidFill>
              </a:rPr>
              <a:t>Built and measured today, with a clear path to </a:t>
            </a:r>
            <a:pPr algn="l" indent="0" marL="0">
              <a:buNone/>
            </a:pPr>
            <a:r>
              <a:rPr lang="en-US" sz="3200" b="1" dirty="0">
                <a:solidFill>
                  <a:schemeClr val="accent1"/>
                </a:solidFill>
              </a:rPr>
              <a:t>sign language</a:t>
            </a:r>
            <a:pPr algn="l" indent="0" marL="0">
              <a:buNone/>
            </a:pPr>
            <a:r>
              <a:rPr lang="en-US" sz="3200" b="1" dirty="0">
                <a:solidFill>
                  <a:schemeClr val="tx1"/>
                </a:solidFill>
              </a:rPr>
              <a:t> and real phone calls</a:t>
            </a:r>
            <a:endParaRPr lang="en-US" sz="3200" dirty="0"/>
          </a:p>
        </p:txBody>
      </p:sp>
      <p:sp>
        <p:nvSpPr>
          <p:cNvPr id="3" name="Timeline line"/>
          <p:cNvSpPr/>
          <p:nvPr/>
        </p:nvSpPr>
        <p:spPr>
          <a:xfrm>
            <a:off x="795528" y="2240280"/>
            <a:ext cx="10600639" cy="0"/>
          </a:xfrm>
          <a:prstGeom prst="line">
            <a:avLst/>
          </a:prstGeom>
          <a:noFill/>
          <a:ln w="25400">
            <a:solidFill>
              <a:schemeClr val="accent6"/>
            </a:solidFill>
            <a:prstDash val="solid"/>
          </a:ln>
        </p:spPr>
      </p:sp>
      <p:sp>
        <p:nvSpPr>
          <p:cNvPr id="4" name="Timeline node 1"/>
          <p:cNvSpPr/>
          <p:nvPr/>
        </p:nvSpPr>
        <p:spPr>
          <a:xfrm>
            <a:off x="640080" y="2084832"/>
            <a:ext cx="310896" cy="310896"/>
          </a:xfrm>
          <a:prstGeom prst="ellipse">
            <a:avLst/>
          </a:prstGeom>
          <a:solidFill>
            <a:schemeClr val="accent1"/>
          </a:solidFill>
          <a:ln w="25400">
            <a:solidFill>
              <a:schemeClr val="accent1"/>
            </a:solidFill>
            <a:prstDash val="solid"/>
          </a:ln>
        </p:spPr>
      </p:sp>
      <p:sp>
        <p:nvSpPr>
          <p:cNvPr id="5" name="Phase tag 1"/>
          <p:cNvSpPr txBox="1"/>
          <p:nvPr/>
        </p:nvSpPr>
        <p:spPr>
          <a:xfrm>
            <a:off x="1078992" y="2084832"/>
            <a:ext cx="868680" cy="310896"/>
          </a:xfrm>
          <a:prstGeom prst="rect">
            <a:avLst/>
          </a:prstGeom>
          <a:solidFill>
            <a:srgbClr val="F6F0E6"/>
          </a:solidFill>
          <a:ln/>
        </p:spPr>
        <p:txBody>
          <a:bodyPr wrap="square" lIns="0" tIns="0" rIns="0" bIns="0" rtlCol="0" anchor="ctr"/>
          <a:lstStyle/>
          <a:p>
            <a:pPr algn="ctr" indent="0" marL="0">
              <a:buNone/>
            </a:pPr>
            <a:r>
              <a:rPr lang="en-US" sz="1200" b="1" spc="200" kern="0" dirty="0">
                <a:solidFill>
                  <a:schemeClr val="accent1"/>
                </a:solidFill>
              </a:rPr>
              <a:t>DONE</a:t>
            </a:r>
            <a:endParaRPr lang="en-US" sz="1200" dirty="0"/>
          </a:p>
        </p:txBody>
      </p:sp>
      <p:sp>
        <p:nvSpPr>
          <p:cNvPr id="6" name="Phase card 1"/>
          <p:cNvSpPr/>
          <p:nvPr/>
        </p:nvSpPr>
        <p:spPr>
          <a:xfrm>
            <a:off x="640080" y="2651760"/>
            <a:ext cx="3429000" cy="3246120"/>
          </a:xfrm>
          <a:prstGeom prst="roundRect">
            <a:avLst>
              <a:gd name="adj" fmla="val 3380"/>
            </a:avLst>
          </a:prstGeom>
          <a:solidFill>
            <a:schemeClr val="bg2"/>
          </a:solidFill>
          <a:ln w="9525">
            <a:solidFill>
              <a:schemeClr val="accent4"/>
            </a:solidFill>
            <a:prstDash val="solid"/>
          </a:ln>
          <a:effectLst>
            <a:outerShdw sx="100000" sy="100000" kx="0" ky="0" algn="bl" rotWithShape="0" blurRad="101600" dist="25400" dir="5400000">
              <a:srgbClr val="6E6862">
                <a:alpha val="14000"/>
              </a:srgbClr>
            </a:outerShdw>
          </a:effectLst>
        </p:spPr>
      </p:sp>
      <p:sp>
        <p:nvSpPr>
          <p:cNvPr id="7" name="Phase title 1"/>
          <p:cNvSpPr txBox="1"/>
          <p:nvPr/>
        </p:nvSpPr>
        <p:spPr>
          <a:xfrm>
            <a:off x="914400" y="2834640"/>
            <a:ext cx="2880360" cy="411480"/>
          </a:xfrm>
          <a:prstGeom prst="rect">
            <a:avLst/>
          </a:prstGeom>
          <a:noFill/>
          <a:ln/>
        </p:spPr>
        <p:txBody>
          <a:bodyPr wrap="square" lIns="0" tIns="0" rIns="0" bIns="0" rtlCol="0" anchor="ctr"/>
          <a:lstStyle/>
          <a:p>
            <a:pPr indent="0" marL="0">
              <a:buNone/>
            </a:pPr>
            <a:r>
              <a:rPr lang="en-US" sz="1900" b="1" dirty="0">
                <a:solidFill>
                  <a:schemeClr val="tx1"/>
                </a:solidFill>
                <a:latin typeface="+mj-lt" pitchFamily="34" charset="0"/>
                <a:ea typeface="+mj-lt" pitchFamily="34" charset="-122"/>
                <a:cs typeface="+mj-lt" pitchFamily="34" charset="-120"/>
              </a:rPr>
              <a:t>Built and measured</a:t>
            </a:r>
            <a:endParaRPr lang="en-US" sz="1900" dirty="0"/>
          </a:p>
        </p:txBody>
      </p:sp>
      <p:sp>
        <p:nvSpPr>
          <p:cNvPr id="8" name="Phase items 1"/>
          <p:cNvSpPr txBox="1"/>
          <p:nvPr/>
        </p:nvSpPr>
        <p:spPr>
          <a:xfrm>
            <a:off x="914400" y="3337560"/>
            <a:ext cx="2880360" cy="2423160"/>
          </a:xfrm>
          <a:prstGeom prst="rect">
            <a:avLst/>
          </a:prstGeom>
          <a:noFill/>
          <a:ln/>
        </p:spPr>
        <p:txBody>
          <a:bodyPr wrap="square" lIns="0" tIns="0" rIns="0" bIns="0" rtlCol="0" anchor="t"/>
          <a:lstStyle/>
          <a:p>
            <a:pPr marL="177800" indent="-177800">
              <a:spcAft>
                <a:spcPts val="700"/>
              </a:spcAft>
              <a:buSzPct val="100000"/>
              <a:buChar char="•"/>
            </a:pPr>
            <a:r>
              <a:rPr lang="en-US" sz="1400" dirty="0">
                <a:solidFill>
                  <a:schemeClr val="tx1"/>
                </a:solidFill>
              </a:rPr>
              <a:t>Lip reading on the phone’s NPU, taught in about a minute</a:t>
            </a:r>
            <a:endParaRPr lang="en-US" sz="1400" dirty="0"/>
          </a:p>
          <a:p>
            <a:pPr marL="177800" indent="-177800">
              <a:spcAft>
                <a:spcPts val="700"/>
              </a:spcAft>
              <a:buSzPct val="100000"/>
              <a:buChar char="•"/>
            </a:pPr>
            <a:r>
              <a:rPr lang="en-US" sz="1400" dirty="0">
                <a:solidFill>
                  <a:schemeClr val="tx1"/>
                </a:solidFill>
              </a:rPr>
              <a:t>Choices and yes/no questions when unsure</a:t>
            </a:r>
            <a:endParaRPr lang="en-US" sz="1400" dirty="0"/>
          </a:p>
          <a:p>
            <a:pPr marL="177800" indent="-177800">
              <a:spcAft>
                <a:spcPts val="700"/>
              </a:spcAft>
              <a:buSzPct val="100000"/>
              <a:buChar char="•"/>
            </a:pPr>
            <a:r>
              <a:rPr lang="en-US" sz="1400" dirty="0">
                <a:solidFill>
                  <a:schemeClr val="tx1"/>
                </a:solidFill>
              </a:rPr>
              <a:t>Voices in four languages, caregiver phone link</a:t>
            </a:r>
            <a:endParaRPr lang="en-US" sz="1400" dirty="0"/>
          </a:p>
          <a:p>
            <a:pPr marL="177800" indent="-177800">
              <a:spcAft>
                <a:spcPts val="700"/>
              </a:spcAft>
              <a:buSzPct val="100000"/>
              <a:buChar char="•"/>
            </a:pPr>
            <a:r>
              <a:rPr lang="en-US" sz="1400" dirty="0">
                <a:solidFill>
                  <a:schemeClr val="tx1"/>
                </a:solidFill>
              </a:rPr>
              <a:t>Calls with no SIM, through a web link</a:t>
            </a:r>
            <a:endParaRPr lang="en-US" sz="1400" dirty="0"/>
          </a:p>
        </p:txBody>
      </p:sp>
      <p:sp>
        <p:nvSpPr>
          <p:cNvPr id="9" name="Timeline node 2"/>
          <p:cNvSpPr/>
          <p:nvPr/>
        </p:nvSpPr>
        <p:spPr>
          <a:xfrm>
            <a:off x="4379976" y="2084832"/>
            <a:ext cx="310896" cy="310896"/>
          </a:xfrm>
          <a:prstGeom prst="ellipse">
            <a:avLst/>
          </a:prstGeom>
          <a:solidFill>
            <a:schemeClr val="bg1"/>
          </a:solidFill>
          <a:ln w="25400">
            <a:solidFill>
              <a:schemeClr val="accent1"/>
            </a:solidFill>
            <a:prstDash val="solid"/>
          </a:ln>
        </p:spPr>
      </p:sp>
      <p:sp>
        <p:nvSpPr>
          <p:cNvPr id="10" name="Phase tag 2"/>
          <p:cNvSpPr txBox="1"/>
          <p:nvPr/>
        </p:nvSpPr>
        <p:spPr>
          <a:xfrm>
            <a:off x="4818888" y="2084832"/>
            <a:ext cx="1417320" cy="310896"/>
          </a:xfrm>
          <a:prstGeom prst="rect">
            <a:avLst/>
          </a:prstGeom>
          <a:solidFill>
            <a:srgbClr val="F6F0E6"/>
          </a:solidFill>
          <a:ln/>
        </p:spPr>
        <p:txBody>
          <a:bodyPr wrap="square" lIns="0" tIns="0" rIns="0" bIns="0" rtlCol="0" anchor="ctr"/>
          <a:lstStyle/>
          <a:p>
            <a:pPr algn="ctr" indent="0" marL="0">
              <a:buNone/>
            </a:pPr>
            <a:r>
              <a:rPr lang="en-US" sz="1200" b="1" spc="200" kern="0" dirty="0">
                <a:solidFill>
                  <a:schemeClr val="accent1"/>
                </a:solidFill>
              </a:rPr>
              <a:t>IN PROGRESS</a:t>
            </a:r>
            <a:endParaRPr lang="en-US" sz="1200" dirty="0"/>
          </a:p>
        </p:txBody>
      </p:sp>
      <p:sp>
        <p:nvSpPr>
          <p:cNvPr id="11" name="Phase card 2"/>
          <p:cNvSpPr/>
          <p:nvPr/>
        </p:nvSpPr>
        <p:spPr>
          <a:xfrm>
            <a:off x="4379976" y="2651760"/>
            <a:ext cx="3429000" cy="3246120"/>
          </a:xfrm>
          <a:prstGeom prst="roundRect">
            <a:avLst>
              <a:gd name="adj" fmla="val 3380"/>
            </a:avLst>
          </a:prstGeom>
          <a:solidFill>
            <a:schemeClr val="bg2"/>
          </a:solidFill>
          <a:ln w="9525">
            <a:solidFill>
              <a:schemeClr val="accent4"/>
            </a:solidFill>
            <a:prstDash val="solid"/>
          </a:ln>
          <a:effectLst>
            <a:outerShdw sx="100000" sy="100000" kx="0" ky="0" algn="bl" rotWithShape="0" blurRad="101600" dist="25400" dir="5400000">
              <a:srgbClr val="6E6862">
                <a:alpha val="14000"/>
              </a:srgbClr>
            </a:outerShdw>
          </a:effectLst>
        </p:spPr>
      </p:sp>
      <p:sp>
        <p:nvSpPr>
          <p:cNvPr id="12" name="Phase title 2"/>
          <p:cNvSpPr txBox="1"/>
          <p:nvPr/>
        </p:nvSpPr>
        <p:spPr>
          <a:xfrm>
            <a:off x="4654296" y="2834640"/>
            <a:ext cx="2880360" cy="411480"/>
          </a:xfrm>
          <a:prstGeom prst="rect">
            <a:avLst/>
          </a:prstGeom>
          <a:noFill/>
          <a:ln/>
        </p:spPr>
        <p:txBody>
          <a:bodyPr wrap="square" lIns="0" tIns="0" rIns="0" bIns="0" rtlCol="0" anchor="ctr"/>
          <a:lstStyle/>
          <a:p>
            <a:pPr indent="0" marL="0">
              <a:buNone/>
            </a:pPr>
            <a:r>
              <a:rPr lang="en-US" sz="1900" b="1" dirty="0">
                <a:solidFill>
                  <a:schemeClr val="tx1"/>
                </a:solidFill>
                <a:latin typeface="+mj-lt" pitchFamily="34" charset="0"/>
                <a:ea typeface="+mj-lt" pitchFamily="34" charset="-122"/>
                <a:cs typeface="+mj-lt" pitchFamily="34" charset="-120"/>
              </a:rPr>
              <a:t>Proving it for real</a:t>
            </a:r>
            <a:endParaRPr lang="en-US" sz="1900" dirty="0"/>
          </a:p>
        </p:txBody>
      </p:sp>
      <p:sp>
        <p:nvSpPr>
          <p:cNvPr id="13" name="Phase items 2"/>
          <p:cNvSpPr txBox="1"/>
          <p:nvPr/>
        </p:nvSpPr>
        <p:spPr>
          <a:xfrm>
            <a:off x="4654296" y="3337560"/>
            <a:ext cx="2880360" cy="2423160"/>
          </a:xfrm>
          <a:prstGeom prst="rect">
            <a:avLst/>
          </a:prstGeom>
          <a:noFill/>
          <a:ln/>
        </p:spPr>
        <p:txBody>
          <a:bodyPr wrap="square" lIns="0" tIns="0" rIns="0" bIns="0" rtlCol="0" anchor="t"/>
          <a:lstStyle/>
          <a:p>
            <a:pPr marL="177800" indent="-177800">
              <a:spcAft>
                <a:spcPts val="700"/>
              </a:spcAft>
              <a:buSzPct val="100000"/>
              <a:buChar char="•"/>
            </a:pPr>
            <a:r>
              <a:rPr lang="en-US" sz="1400" dirty="0">
                <a:solidFill>
                  <a:schemeClr val="tx1"/>
                </a:solidFill>
              </a:rPr>
              <a:t>Sign mode tested with real signers (263-sign model already integrated)</a:t>
            </a:r>
            <a:endParaRPr lang="en-US" sz="1400" dirty="0"/>
          </a:p>
          <a:p>
            <a:pPr marL="177800" indent="-177800">
              <a:spcAft>
                <a:spcPts val="700"/>
              </a:spcAft>
              <a:buSzPct val="100000"/>
              <a:buChar char="•"/>
            </a:pPr>
            <a:r>
              <a:rPr lang="en-US" sz="1400" dirty="0">
                <a:solidFill>
                  <a:schemeClr val="tx1"/>
                </a:solidFill>
              </a:rPr>
              <a:t>Our own silent-speech recordings</a:t>
            </a:r>
            <a:endParaRPr lang="en-US" sz="1400" dirty="0"/>
          </a:p>
          <a:p>
            <a:pPr marL="177800" indent="-177800">
              <a:spcAft>
                <a:spcPts val="700"/>
              </a:spcAft>
              <a:buSzPct val="100000"/>
              <a:buChar char="•"/>
            </a:pPr>
            <a:r>
              <a:rPr lang="en-US" sz="1400" dirty="0">
                <a:solidFill>
                  <a:schemeClr val="tx1"/>
                </a:solidFill>
              </a:rPr>
              <a:t>Native-speaker review of Tamil, Kannada and Hindi phrases</a:t>
            </a:r>
            <a:endParaRPr lang="en-US" sz="1400" dirty="0"/>
          </a:p>
          <a:p>
            <a:pPr marL="177800" indent="-177800">
              <a:spcAft>
                <a:spcPts val="700"/>
              </a:spcAft>
              <a:buSzPct val="100000"/>
              <a:buChar char="•"/>
            </a:pPr>
            <a:r>
              <a:rPr lang="en-US" sz="1400" dirty="0">
                <a:solidFill>
                  <a:schemeClr val="tx1"/>
                </a:solidFill>
              </a:rPr>
              <a:t>A real person on the other end of a call</a:t>
            </a:r>
            <a:endParaRPr lang="en-US" sz="1400" dirty="0"/>
          </a:p>
        </p:txBody>
      </p:sp>
      <p:sp>
        <p:nvSpPr>
          <p:cNvPr id="14" name="Timeline node 3"/>
          <p:cNvSpPr/>
          <p:nvPr/>
        </p:nvSpPr>
        <p:spPr>
          <a:xfrm>
            <a:off x="8119872" y="2084832"/>
            <a:ext cx="310896" cy="310896"/>
          </a:xfrm>
          <a:prstGeom prst="ellipse">
            <a:avLst/>
          </a:prstGeom>
          <a:solidFill>
            <a:schemeClr val="bg1"/>
          </a:solidFill>
          <a:ln w="25400">
            <a:solidFill>
              <a:schemeClr val="accent3"/>
            </a:solidFill>
            <a:prstDash val="solid"/>
          </a:ln>
        </p:spPr>
      </p:sp>
      <p:sp>
        <p:nvSpPr>
          <p:cNvPr id="15" name="Phase tag 3"/>
          <p:cNvSpPr txBox="1"/>
          <p:nvPr/>
        </p:nvSpPr>
        <p:spPr>
          <a:xfrm>
            <a:off x="8558784" y="2084832"/>
            <a:ext cx="777240" cy="310896"/>
          </a:xfrm>
          <a:prstGeom prst="rect">
            <a:avLst/>
          </a:prstGeom>
          <a:solidFill>
            <a:srgbClr val="F6F0E6"/>
          </a:solidFill>
          <a:ln/>
        </p:spPr>
        <p:txBody>
          <a:bodyPr wrap="square" lIns="0" tIns="0" rIns="0" bIns="0" rtlCol="0" anchor="ctr"/>
          <a:lstStyle/>
          <a:p>
            <a:pPr algn="ctr" indent="0" marL="0">
              <a:buNone/>
            </a:pPr>
            <a:r>
              <a:rPr lang="en-US" sz="1200" b="1" spc="200" kern="0" dirty="0">
                <a:solidFill>
                  <a:schemeClr val="tx2"/>
                </a:solidFill>
              </a:rPr>
              <a:t>NEXT</a:t>
            </a:r>
            <a:endParaRPr lang="en-US" sz="1200" dirty="0"/>
          </a:p>
        </p:txBody>
      </p:sp>
      <p:sp>
        <p:nvSpPr>
          <p:cNvPr id="16" name="Phase card 3"/>
          <p:cNvSpPr/>
          <p:nvPr/>
        </p:nvSpPr>
        <p:spPr>
          <a:xfrm>
            <a:off x="8119872" y="2651760"/>
            <a:ext cx="3429000" cy="3246120"/>
          </a:xfrm>
          <a:prstGeom prst="roundRect">
            <a:avLst>
              <a:gd name="adj" fmla="val 3380"/>
            </a:avLst>
          </a:prstGeom>
          <a:solidFill>
            <a:schemeClr val="bg2"/>
          </a:solidFill>
          <a:ln w="9525">
            <a:solidFill>
              <a:schemeClr val="accent4"/>
            </a:solidFill>
            <a:prstDash val="solid"/>
          </a:ln>
          <a:effectLst>
            <a:outerShdw sx="100000" sy="100000" kx="0" ky="0" algn="bl" rotWithShape="0" blurRad="101600" dist="25400" dir="5400000">
              <a:srgbClr val="6E6862">
                <a:alpha val="14000"/>
              </a:srgbClr>
            </a:outerShdw>
          </a:effectLst>
        </p:spPr>
      </p:sp>
      <p:sp>
        <p:nvSpPr>
          <p:cNvPr id="17" name="Phase title 3"/>
          <p:cNvSpPr txBox="1"/>
          <p:nvPr/>
        </p:nvSpPr>
        <p:spPr>
          <a:xfrm>
            <a:off x="8394192" y="2834640"/>
            <a:ext cx="2880360" cy="411480"/>
          </a:xfrm>
          <a:prstGeom prst="rect">
            <a:avLst/>
          </a:prstGeom>
          <a:noFill/>
          <a:ln/>
        </p:spPr>
        <p:txBody>
          <a:bodyPr wrap="square" lIns="0" tIns="0" rIns="0" bIns="0" rtlCol="0" anchor="ctr"/>
          <a:lstStyle/>
          <a:p>
            <a:pPr indent="0" marL="0">
              <a:buNone/>
            </a:pPr>
            <a:r>
              <a:rPr lang="en-US" sz="1900" b="1" dirty="0">
                <a:solidFill>
                  <a:schemeClr val="tx1"/>
                </a:solidFill>
                <a:latin typeface="+mj-lt" pitchFamily="34" charset="0"/>
                <a:ea typeface="+mj-lt" pitchFamily="34" charset="-122"/>
                <a:cs typeface="+mj-lt" pitchFamily="34" charset="-120"/>
              </a:rPr>
              <a:t>Growing the reach</a:t>
            </a:r>
            <a:endParaRPr lang="en-US" sz="1900" dirty="0"/>
          </a:p>
        </p:txBody>
      </p:sp>
      <p:sp>
        <p:nvSpPr>
          <p:cNvPr id="18" name="Phase items 3"/>
          <p:cNvSpPr txBox="1"/>
          <p:nvPr/>
        </p:nvSpPr>
        <p:spPr>
          <a:xfrm>
            <a:off x="8394192" y="3337560"/>
            <a:ext cx="2880360" cy="2423160"/>
          </a:xfrm>
          <a:prstGeom prst="rect">
            <a:avLst/>
          </a:prstGeom>
          <a:noFill/>
          <a:ln/>
        </p:spPr>
        <p:txBody>
          <a:bodyPr wrap="square" lIns="0" tIns="0" rIns="0" bIns="0" rtlCol="0" anchor="t"/>
          <a:lstStyle/>
          <a:p>
            <a:pPr marL="177800" indent="-177800">
              <a:spcAft>
                <a:spcPts val="700"/>
              </a:spcAft>
              <a:buSzPct val="100000"/>
              <a:buChar char="•"/>
            </a:pPr>
            <a:r>
              <a:rPr lang="en-US" sz="1400" dirty="0">
                <a:solidFill>
                  <a:schemeClr val="tx1"/>
                </a:solidFill>
              </a:rPr>
              <a:t>Real phone-number calls through a telephony bridge (planned, 6 to 10 weeks)</a:t>
            </a:r>
            <a:endParaRPr lang="en-US" sz="1400" dirty="0"/>
          </a:p>
          <a:p>
            <a:pPr marL="177800" indent="-177800">
              <a:spcAft>
                <a:spcPts val="700"/>
              </a:spcAft>
              <a:buSzPct val="100000"/>
              <a:buChar char="•"/>
            </a:pPr>
            <a:r>
              <a:rPr lang="en-US" sz="1400" dirty="0">
                <a:solidFill>
                  <a:schemeClr val="tx1"/>
                </a:solidFill>
              </a:rPr>
              <a:t>More Indian languages, bigger sign vocabulary</a:t>
            </a:r>
            <a:endParaRPr lang="en-US" sz="1400" dirty="0"/>
          </a:p>
          <a:p>
            <a:pPr marL="177800" indent="-177800">
              <a:spcAft>
                <a:spcPts val="700"/>
              </a:spcAft>
              <a:buSzPct val="100000"/>
              <a:buChar char="•"/>
            </a:pPr>
            <a:r>
              <a:rPr lang="en-US" sz="1400" dirty="0">
                <a:solidFill>
                  <a:schemeClr val="tx1"/>
                </a:solidFill>
              </a:rPr>
              <a:t>Small on-device language model for new sentences</a:t>
            </a:r>
            <a:endParaRPr lang="en-US" sz="1400" dirty="0"/>
          </a:p>
          <a:p>
            <a:pPr marL="177800" indent="-177800">
              <a:spcAft>
                <a:spcPts val="700"/>
              </a:spcAft>
              <a:buSzPct val="100000"/>
              <a:buChar char="•"/>
            </a:pPr>
            <a:r>
              <a:rPr lang="en-US" sz="1400" dirty="0">
                <a:solidFill>
                  <a:schemeClr val="tx1"/>
                </a:solidFill>
              </a:rPr>
              <a:t>Pilots with speech therapists and hospitals, with consent</a:t>
            </a:r>
            <a:endParaRPr lang="en-US" sz="1400" dirty="0"/>
          </a:p>
        </p:txBody>
      </p:sp>
      <p:sp>
        <p:nvSpPr>
          <p:cNvPr id="25" name="Slide Number Placeholder 0"/>
          <p:cNvSpPr>
            <a:spLocks noGrp="1"/>
          </p:cNvSpPr>
          <p:nvPr>
            <p:ph type="sldNum" sz="quarter" idx="4294967295"/>
          </p:nvPr>
        </p:nvSpPr>
        <p:spPr>
          <a:xfrm>
            <a:off x="11002975"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911535" cy="1097280"/>
          </a:xfrm>
          <a:prstGeom prst="rect">
            <a:avLst/>
          </a:prstGeom>
          <a:noFill/>
          <a:ln/>
        </p:spPr>
        <p:txBody>
          <a:bodyPr wrap="square" lIns="0" tIns="0" rIns="0" bIns="0" rtlCol="0" anchor="t"/>
          <a:lstStyle/>
          <a:p>
            <a:pPr algn="l" indent="0" marL="0">
              <a:buNone/>
            </a:pPr>
            <a:r>
              <a:rPr lang="en-US" sz="3200" b="1" dirty="0">
                <a:solidFill>
                  <a:schemeClr val="accent1"/>
                </a:solidFill>
              </a:rPr>
              <a:t>97 million</a:t>
            </a:r>
            <a:pPr algn="l" indent="0" marL="0">
              <a:buNone/>
            </a:pPr>
            <a:r>
              <a:rPr lang="en-US" sz="3200" b="1" dirty="0">
                <a:solidFill>
                  <a:schemeClr val="tx1"/>
                </a:solidFill>
              </a:rPr>
              <a:t> people live without reliable speech. Mouna needs only the phone they own</a:t>
            </a:r>
            <a:endParaRPr lang="en-US" sz="3200" dirty="0"/>
          </a:p>
        </p:txBody>
      </p:sp>
      <p:sp>
        <p:nvSpPr>
          <p:cNvPr id="3" name="Hero card"/>
          <p:cNvSpPr/>
          <p:nvPr/>
        </p:nvSpPr>
        <p:spPr>
          <a:xfrm>
            <a:off x="640080" y="1783080"/>
            <a:ext cx="4206240" cy="2240280"/>
          </a:xfrm>
          <a:prstGeom prst="roundRect">
            <a:avLst>
              <a:gd name="adj" fmla="val 4898"/>
            </a:avLst>
          </a:prstGeom>
          <a:solidFill>
            <a:schemeClr val="bg2"/>
          </a:solidFill>
          <a:ln w="9525">
            <a:solidFill>
              <a:schemeClr val="accent4"/>
            </a:solidFill>
            <a:prstDash val="solid"/>
          </a:ln>
          <a:effectLst>
            <a:outerShdw sx="100000" sy="100000" kx="0" ky="0" algn="bl" rotWithShape="0" blurRad="101600" dist="25400" dir="5400000">
              <a:srgbClr val="6E6862">
                <a:alpha val="14000"/>
              </a:srgbClr>
            </a:outerShdw>
          </a:effectLst>
        </p:spPr>
      </p:sp>
      <p:sp>
        <p:nvSpPr>
          <p:cNvPr id="4" name="Hero value"/>
          <p:cNvSpPr txBox="1"/>
          <p:nvPr/>
        </p:nvSpPr>
        <p:spPr>
          <a:xfrm>
            <a:off x="914400" y="1874520"/>
            <a:ext cx="3657600" cy="1188720"/>
          </a:xfrm>
          <a:prstGeom prst="rect">
            <a:avLst/>
          </a:prstGeom>
          <a:noFill/>
          <a:ln/>
        </p:spPr>
        <p:txBody>
          <a:bodyPr wrap="square" lIns="0" tIns="0" rIns="0" bIns="0" rtlCol="0" anchor="ctr"/>
          <a:lstStyle/>
          <a:p>
            <a:pPr indent="0" marL="0">
              <a:buNone/>
            </a:pPr>
            <a:r>
              <a:rPr lang="en-US" sz="7200" b="1" dirty="0">
                <a:solidFill>
                  <a:schemeClr val="accent1"/>
                </a:solidFill>
                <a:latin typeface="+mj-lt" pitchFamily="34" charset="0"/>
                <a:ea typeface="+mj-lt" pitchFamily="34" charset="-122"/>
                <a:cs typeface="+mj-lt" pitchFamily="34" charset="-120"/>
              </a:rPr>
              <a:t>97M</a:t>
            </a:r>
            <a:endParaRPr lang="en-US" sz="7200" dirty="0"/>
          </a:p>
        </p:txBody>
      </p:sp>
      <p:sp>
        <p:nvSpPr>
          <p:cNvPr id="5" name="Hero label"/>
          <p:cNvSpPr txBox="1"/>
          <p:nvPr/>
        </p:nvSpPr>
        <p:spPr>
          <a:xfrm>
            <a:off x="914400" y="3063240"/>
            <a:ext cx="3657600" cy="822960"/>
          </a:xfrm>
          <a:prstGeom prst="rect">
            <a:avLst/>
          </a:prstGeom>
          <a:noFill/>
          <a:ln/>
        </p:spPr>
        <p:txBody>
          <a:bodyPr wrap="square" lIns="0" tIns="0" rIns="0" bIns="0" rtlCol="0" anchor="t"/>
          <a:lstStyle/>
          <a:p>
            <a:pPr indent="0" marL="0">
              <a:buNone/>
            </a:pPr>
            <a:r>
              <a:rPr lang="en-US" sz="1400" dirty="0">
                <a:solidFill>
                  <a:schemeClr val="tx1"/>
                </a:solidFill>
              </a:rPr>
              <a:t>people worldwide cannot rely on speech to communicate (AAC research, Penn State)</a:t>
            </a:r>
            <a:endParaRPr lang="en-US" sz="1400" dirty="0"/>
          </a:p>
        </p:txBody>
      </p:sp>
      <p:sp>
        <p:nvSpPr>
          <p:cNvPr id="6" name="Cost card"/>
          <p:cNvSpPr/>
          <p:nvPr/>
        </p:nvSpPr>
        <p:spPr>
          <a:xfrm>
            <a:off x="640080" y="4206240"/>
            <a:ext cx="4206240" cy="1691640"/>
          </a:xfrm>
          <a:prstGeom prst="roundRect">
            <a:avLst>
              <a:gd name="adj" fmla="val 6486"/>
            </a:avLst>
          </a:prstGeom>
          <a:solidFill>
            <a:schemeClr val="bg2"/>
          </a:solidFill>
          <a:ln w="9525">
            <a:solidFill>
              <a:schemeClr val="accent4"/>
            </a:solidFill>
            <a:prstDash val="solid"/>
          </a:ln>
          <a:effectLst>
            <a:outerShdw sx="100000" sy="100000" kx="0" ky="0" algn="bl" rotWithShape="0" blurRad="101600" dist="25400" dir="5400000">
              <a:srgbClr val="6E6862">
                <a:alpha val="14000"/>
              </a:srgbClr>
            </a:outerShdw>
          </a:effectLst>
        </p:spPr>
      </p:sp>
      <p:sp>
        <p:nvSpPr>
          <p:cNvPr id="7" name="Cost value"/>
          <p:cNvSpPr txBox="1"/>
          <p:nvPr/>
        </p:nvSpPr>
        <p:spPr>
          <a:xfrm>
            <a:off x="914400" y="4297680"/>
            <a:ext cx="3657600" cy="640080"/>
          </a:xfrm>
          <a:prstGeom prst="rect">
            <a:avLst/>
          </a:prstGeom>
          <a:noFill/>
          <a:ln/>
        </p:spPr>
        <p:txBody>
          <a:bodyPr wrap="square" lIns="0" tIns="0" rIns="0" bIns="0" rtlCol="0" anchor="ctr"/>
          <a:lstStyle/>
          <a:p>
            <a:pPr indent="0" marL="0">
              <a:buNone/>
            </a:pPr>
            <a:r>
              <a:rPr lang="en-US" sz="3000" b="1" dirty="0">
                <a:solidFill>
                  <a:schemeClr val="accent1"/>
                </a:solidFill>
                <a:latin typeface="+mj-lt" pitchFamily="34" charset="0"/>
                <a:ea typeface="+mj-lt" pitchFamily="34" charset="-122"/>
                <a:cs typeface="+mj-lt" pitchFamily="34" charset="-120"/>
              </a:rPr>
              <a:t>$4,000–23,000</a:t>
            </a:r>
            <a:endParaRPr lang="en-US" sz="3000" dirty="0"/>
          </a:p>
        </p:txBody>
      </p:sp>
      <p:sp>
        <p:nvSpPr>
          <p:cNvPr id="8" name="Cost label"/>
          <p:cNvSpPr txBox="1"/>
          <p:nvPr/>
        </p:nvSpPr>
        <p:spPr>
          <a:xfrm>
            <a:off x="914400" y="4937760"/>
            <a:ext cx="3657600" cy="868680"/>
          </a:xfrm>
          <a:prstGeom prst="rect">
            <a:avLst/>
          </a:prstGeom>
          <a:noFill/>
          <a:ln/>
        </p:spPr>
        <p:txBody>
          <a:bodyPr wrap="square" lIns="0" tIns="0" rIns="0" bIns="0" rtlCol="0" anchor="t"/>
          <a:lstStyle/>
          <a:p>
            <a:pPr indent="0" marL="0">
              <a:buNone/>
            </a:pPr>
            <a:r>
              <a:rPr lang="en-US" sz="1400" dirty="0">
                <a:solidFill>
                  <a:schemeClr val="tx1"/>
                </a:solidFill>
              </a:rPr>
              <a:t>what a dedicated eye-gaze speech device costs, imported and English-first. Mouna is an app on the phone they already have.</a:t>
            </a:r>
            <a:endParaRPr lang="en-US" sz="1400" dirty="0"/>
          </a:p>
        </p:txBody>
      </p:sp>
      <p:sp>
        <p:nvSpPr>
          <p:cNvPr id="9" name="India chart card"/>
          <p:cNvSpPr/>
          <p:nvPr/>
        </p:nvSpPr>
        <p:spPr>
          <a:xfrm>
            <a:off x="5120640" y="1783080"/>
            <a:ext cx="6430975" cy="4114800"/>
          </a:xfrm>
          <a:prstGeom prst="roundRect">
            <a:avLst>
              <a:gd name="adj" fmla="val 2667"/>
            </a:avLst>
          </a:prstGeom>
          <a:solidFill>
            <a:schemeClr val="bg2"/>
          </a:solidFill>
          <a:ln w="9525">
            <a:solidFill>
              <a:schemeClr val="accent4"/>
            </a:solidFill>
            <a:prstDash val="solid"/>
          </a:ln>
          <a:effectLst>
            <a:outerShdw sx="100000" sy="100000" kx="0" ky="0" algn="bl" rotWithShape="0" blurRad="101600" dist="25400" dir="5400000">
              <a:srgbClr val="6E6862">
                <a:alpha val="14000"/>
              </a:srgbClr>
            </a:outerShdw>
          </a:effectLst>
        </p:spPr>
      </p:sp>
      <p:sp>
        <p:nvSpPr>
          <p:cNvPr id="10" name="Chart title"/>
          <p:cNvSpPr txBox="1"/>
          <p:nvPr/>
        </p:nvSpPr>
        <p:spPr>
          <a:xfrm>
            <a:off x="5440680" y="1920240"/>
            <a:ext cx="5790895" cy="365760"/>
          </a:xfrm>
          <a:prstGeom prst="rect">
            <a:avLst/>
          </a:prstGeom>
          <a:noFill/>
          <a:ln/>
        </p:spPr>
        <p:txBody>
          <a:bodyPr wrap="square" lIns="0" tIns="0" rIns="0" bIns="0" rtlCol="0" anchor="ctr"/>
          <a:lstStyle/>
          <a:p>
            <a:pPr indent="0" marL="0">
              <a:buNone/>
            </a:pPr>
            <a:r>
              <a:rPr lang="en-US" sz="1600" b="1" dirty="0">
                <a:solidFill>
                  <a:schemeClr val="tx1"/>
                </a:solidFill>
              </a:rPr>
              <a:t>In India: people in the groups Mouna is built for, in millions</a:t>
            </a:r>
            <a:endParaRPr lang="en-US" sz="1600" dirty="0"/>
          </a:p>
        </p:txBody>
      </p:sp>
      <p:graphicFrame>
        <p:nvGraphicFramePr>
          <p:cNvPr id="11" name="Chart 0" descr="Bar chart for India: 5.07 million with hearing impairment, 2.0 million stroke survivors with aphasia, 1.88 million with a speech disability."/>
          <p:cNvGraphicFramePr/>
          <p:nvPr/>
        </p:nvGraphicFramePr>
        <p:xfrm>
          <a:off x="5349240" y="2331720"/>
          <a:ext cx="5973775" cy="2377440"/>
        </p:xfrm>
        <a:graphic xmlns:a="http://schemas.openxmlformats.org/drawingml/2006/main">
          <a:graphicData uri="http://schemas.openxmlformats.org/drawingml/2006/chart">
            <c:chart xmlns:c="http://schemas.openxmlformats.org/drawingml/2006/chart" r:id="rId1"/>
          </a:graphicData>
        </a:graphic>
      </p:graphicFrame>
      <p:sp>
        <p:nvSpPr>
          <p:cNvPr id="12" name="Chart takeaway"/>
          <p:cNvSpPr txBox="1"/>
          <p:nvPr/>
        </p:nvSpPr>
        <p:spPr>
          <a:xfrm>
            <a:off x="5440680" y="4754880"/>
            <a:ext cx="5790895" cy="548640"/>
          </a:xfrm>
          <a:prstGeom prst="rect">
            <a:avLst/>
          </a:prstGeom>
          <a:noFill/>
          <a:ln/>
        </p:spPr>
        <p:txBody>
          <a:bodyPr wrap="square" lIns="0" tIns="0" rIns="0" bIns="0" rtlCol="0" anchor="ctr"/>
          <a:lstStyle/>
          <a:p>
            <a:pPr indent="0" marL="0">
              <a:buNone/>
            </a:pPr>
            <a:r>
              <a:rPr lang="en-US" sz="1200" dirty="0">
                <a:solidFill>
                  <a:schemeClr val="tx1"/>
                </a:solidFill>
              </a:rPr>
              <a:t>Plus about 70,000 new laryngeal and hypopharyngeal cancer cases a year, where surgery can take the voice. Groups overlap, so we never add them up.</a:t>
            </a:r>
            <a:endParaRPr lang="en-US" sz="1200" dirty="0"/>
          </a:p>
        </p:txBody>
      </p:sp>
      <p:sp>
        <p:nvSpPr>
          <p:cNvPr id="13" name="Chart sources"/>
          <p:cNvSpPr txBox="1"/>
          <p:nvPr/>
        </p:nvSpPr>
        <p:spPr>
          <a:xfrm>
            <a:off x="5440680" y="5349240"/>
            <a:ext cx="5790895" cy="411480"/>
          </a:xfrm>
          <a:prstGeom prst="rect">
            <a:avLst/>
          </a:prstGeom>
          <a:noFill/>
          <a:ln/>
        </p:spPr>
        <p:txBody>
          <a:bodyPr wrap="square" lIns="0" tIns="0" rIns="0" bIns="0" rtlCol="0" anchor="ctr"/>
          <a:lstStyle/>
          <a:p>
            <a:pPr indent="0" marL="0">
              <a:buNone/>
            </a:pPr>
            <a:r>
              <a:rPr lang="en-US" sz="1000" dirty="0">
                <a:solidFill>
                  <a:schemeClr val="tx2"/>
                </a:solidFill>
              </a:rPr>
              <a:t>Sources: Census 2011 (MoSPI); Pauranik et al. 2019; GLOBOCAN 2024; Penn State; Tobii Dynavox price range.</a:t>
            </a:r>
            <a:endParaRPr lang="en-US" sz="1000" dirty="0"/>
          </a:p>
        </p:txBody>
      </p:sp>
      <p:sp>
        <p:nvSpPr>
          <p:cNvPr id="25" name="Slide Number Placeholder 0"/>
          <p:cNvSpPr>
            <a:spLocks noGrp="1"/>
          </p:cNvSpPr>
          <p:nvPr>
            <p:ph type="sldNum" sz="quarter" idx="4294967295"/>
          </p:nvPr>
        </p:nvSpPr>
        <p:spPr>
          <a:xfrm>
            <a:off x="11002975"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Voice ring 1"/>
          <p:cNvSpPr/>
          <p:nvPr/>
        </p:nvSpPr>
        <p:spPr>
          <a:xfrm>
            <a:off x="8869680" y="2560320"/>
            <a:ext cx="1737360" cy="1737360"/>
          </a:xfrm>
          <a:prstGeom prst="ellipse">
            <a:avLst/>
          </a:prstGeom>
          <a:ln w="15875">
            <a:solidFill>
              <a:schemeClr val="accent1"/>
            </a:solidFill>
            <a:prstDash val="solid"/>
          </a:ln>
        </p:spPr>
      </p:sp>
      <p:sp>
        <p:nvSpPr>
          <p:cNvPr id="3" name="Voice ring 2"/>
          <p:cNvSpPr/>
          <p:nvPr/>
        </p:nvSpPr>
        <p:spPr>
          <a:xfrm>
            <a:off x="8229600" y="1920240"/>
            <a:ext cx="3017520" cy="3017520"/>
          </a:xfrm>
          <a:prstGeom prst="ellipse">
            <a:avLst/>
          </a:prstGeom>
          <a:ln w="15875">
            <a:solidFill>
              <a:schemeClr val="accent1">
                <a:alpha val="70000"/>
              </a:schemeClr>
            </a:solidFill>
            <a:prstDash val="solid"/>
          </a:ln>
        </p:spPr>
      </p:sp>
      <p:sp>
        <p:nvSpPr>
          <p:cNvPr id="4" name="Voice ring 3"/>
          <p:cNvSpPr/>
          <p:nvPr/>
        </p:nvSpPr>
        <p:spPr>
          <a:xfrm>
            <a:off x="7589520" y="1280160"/>
            <a:ext cx="4297680" cy="4297680"/>
          </a:xfrm>
          <a:prstGeom prst="ellipse">
            <a:avLst/>
          </a:prstGeom>
          <a:ln w="15875">
            <a:solidFill>
              <a:schemeClr val="accent1">
                <a:alpha val="45000"/>
              </a:schemeClr>
            </a:solidFill>
            <a:prstDash val="solid"/>
          </a:ln>
        </p:spPr>
      </p:sp>
      <p:sp>
        <p:nvSpPr>
          <p:cNvPr id="5" name="Voice ring 4"/>
          <p:cNvSpPr/>
          <p:nvPr/>
        </p:nvSpPr>
        <p:spPr>
          <a:xfrm>
            <a:off x="6995160" y="685800"/>
            <a:ext cx="5486400" cy="5486400"/>
          </a:xfrm>
          <a:prstGeom prst="ellipse">
            <a:avLst/>
          </a:prstGeom>
          <a:ln w="15875">
            <a:solidFill>
              <a:schemeClr val="accent1">
                <a:alpha val="22000"/>
              </a:schemeClr>
            </a:solidFill>
            <a:prstDash val="solid"/>
          </a:ln>
        </p:spPr>
      </p:sp>
      <p:sp>
        <p:nvSpPr>
          <p:cNvPr id="6" name="Voice core"/>
          <p:cNvSpPr/>
          <p:nvPr/>
        </p:nvSpPr>
        <p:spPr>
          <a:xfrm>
            <a:off x="9326880" y="3017520"/>
            <a:ext cx="822960" cy="822960"/>
          </a:xfrm>
          <a:prstGeom prst="ellipse">
            <a:avLst/>
          </a:prstGeom>
          <a:solidFill>
            <a:schemeClr val="accent1"/>
          </a:solidFill>
          <a:ln w="12700">
            <a:solidFill>
              <a:schemeClr val="accent1"/>
            </a:solidFill>
            <a:prstDash val="solid"/>
          </a:ln>
        </p:spPr>
      </p:sp>
      <p:sp>
        <p:nvSpPr>
          <p:cNvPr id="7" name="Thank you title"/>
          <p:cNvSpPr txBox="1"/>
          <p:nvPr/>
        </p:nvSpPr>
        <p:spPr>
          <a:xfrm>
            <a:off x="640080" y="1737360"/>
            <a:ext cx="6949440" cy="1280160"/>
          </a:xfrm>
          <a:prstGeom prst="rect">
            <a:avLst/>
          </a:prstGeom>
          <a:noFill/>
          <a:ln/>
        </p:spPr>
        <p:txBody>
          <a:bodyPr wrap="square" lIns="0" tIns="0" rIns="0" bIns="0" rtlCol="0" anchor="t"/>
          <a:lstStyle/>
          <a:p>
            <a:pPr indent="0" marL="0">
              <a:buNone/>
            </a:pPr>
            <a:r>
              <a:rPr lang="en-US" sz="6600" b="1" dirty="0">
                <a:solidFill>
                  <a:schemeClr val="tx1"/>
                </a:solidFill>
                <a:latin typeface="+mj-lt" pitchFamily="34" charset="0"/>
                <a:ea typeface="+mj-lt" pitchFamily="34" charset="-122"/>
                <a:cs typeface="+mj-lt" pitchFamily="34" charset="-120"/>
              </a:rPr>
              <a:t>Thank you</a:t>
            </a:r>
            <a:endParaRPr lang="en-US" sz="6600" dirty="0"/>
          </a:p>
        </p:txBody>
      </p:sp>
      <p:sp>
        <p:nvSpPr>
          <p:cNvPr id="8" name="Closing line"/>
          <p:cNvSpPr txBox="1"/>
          <p:nvPr/>
        </p:nvSpPr>
        <p:spPr>
          <a:xfrm>
            <a:off x="640080" y="3108960"/>
            <a:ext cx="6949440" cy="731520"/>
          </a:xfrm>
          <a:prstGeom prst="rect">
            <a:avLst/>
          </a:prstGeom>
          <a:noFill/>
          <a:ln/>
        </p:spPr>
        <p:txBody>
          <a:bodyPr wrap="square" lIns="0" tIns="0" rIns="0" bIns="0" rtlCol="0" anchor="t"/>
          <a:lstStyle/>
          <a:p>
            <a:pPr indent="0" marL="0">
              <a:buNone/>
            </a:pPr>
            <a:r>
              <a:rPr lang="en-US" sz="3000" i="1" dirty="0">
                <a:solidFill>
                  <a:schemeClr val="accent1"/>
                </a:solidFill>
                <a:latin typeface="+mj-lt" pitchFamily="34" charset="0"/>
                <a:ea typeface="+mj-lt" pitchFamily="34" charset="-122"/>
                <a:cs typeface="+mj-lt" pitchFamily="34" charset="-120"/>
              </a:rPr>
              <a:t>Every soul deserves a voice.</a:t>
            </a:r>
            <a:endParaRPr lang="en-US" sz="3000" dirty="0"/>
          </a:p>
        </p:txBody>
      </p:sp>
      <p:sp>
        <p:nvSpPr>
          <p:cNvPr id="9" name="Prototype link"/>
          <p:cNvSpPr txBox="1"/>
          <p:nvPr/>
        </p:nvSpPr>
        <p:spPr>
          <a:xfrm>
            <a:off x="640080" y="4389120"/>
            <a:ext cx="6949440" cy="365760"/>
          </a:xfrm>
          <a:prstGeom prst="rect">
            <a:avLst/>
          </a:prstGeom>
          <a:noFill/>
          <a:ln/>
        </p:spPr>
        <p:txBody>
          <a:bodyPr wrap="square" lIns="0" tIns="0" rIns="0" bIns="0" rtlCol="0" anchor="ctr"/>
          <a:lstStyle/>
          <a:p>
            <a:pPr indent="0" marL="0">
              <a:buNone/>
            </a:pPr>
            <a:r>
              <a:rPr lang="en-US" sz="1800" dirty="0">
                <a:solidFill>
                  <a:schemeClr val="tx2"/>
                </a:solidFill>
              </a:rPr>
              <a:t>Try the prototype: </a:t>
            </a:r>
            <a:pPr indent="0" marL="0">
              <a:buNone/>
            </a:pPr>
            <a:r>
              <a:rPr lang="en-US" sz="1800" b="1" u="sng" dirty="0">
                <a:solidFill>
                  <a:schemeClr val="accent1"/>
                </a:solidFill>
                <a:hlinkClick r:id="rId1" invalidUrl="" action="" tgtFrame="" tooltip="" history="1" highlightClick="0" endSnd="0">
                  <a:extLst>
                    <a:ext uri="{A12FA001-AC4F-418D-AE19-62706E023703}">
                      <ahyp:hlinkClr xmlns:ahyp="http://schemas.microsoft.com/office/drawing/2018/hyperlinkcolor" val="tx"/>
                    </a:ext>
                  </a:extLst>
                </a:hlinkClick>
              </a:rPr>
              <a:t>mouna-spike.vercel.app</a:t>
            </a:r>
            <a:endParaRPr lang="en-US" sz="1800" dirty="0"/>
          </a:p>
        </p:txBody>
      </p:sp>
      <p:sp>
        <p:nvSpPr>
          <p:cNvPr id="10" name="Team"/>
          <p:cNvSpPr txBox="1"/>
          <p:nvPr/>
        </p:nvSpPr>
        <p:spPr>
          <a:xfrm>
            <a:off x="640080" y="4937760"/>
            <a:ext cx="6949440" cy="365760"/>
          </a:xfrm>
          <a:prstGeom prst="rect">
            <a:avLst/>
          </a:prstGeom>
          <a:noFill/>
          <a:ln/>
        </p:spPr>
        <p:txBody>
          <a:bodyPr wrap="square" lIns="0" tIns="0" rIns="0" bIns="0" rtlCol="0" anchor="ctr"/>
          <a:lstStyle/>
          <a:p>
            <a:pPr indent="0" marL="0">
              <a:buNone/>
            </a:pPr>
            <a:r>
              <a:rPr lang="en-US" sz="1600" dirty="0">
                <a:solidFill>
                  <a:schemeClr val="tx1"/>
                </a:solidFill>
              </a:rPr>
              <a:t>Team Mouna  ·  Maadhav  ·  Sachin  ·  Nakul</a:t>
            </a:r>
            <a:endParaRPr lang="en-US" sz="1600" dirty="0"/>
          </a:p>
        </p:txBody>
      </p:sp>
    </p:spTree>
  </p:cSld>
  <p:clrMapOvr>
    <a:masterClrMapping/>
  </p:clrMapOvr>
</p:sld>
</file>

<file path=ppt/theme/theme1.xml><?xml version="1.0" encoding="utf-8"?>
<a:theme xmlns:a="http://schemas.openxmlformats.org/drawingml/2006/main" name="Mouna Beige and Burgundy">
  <a:themeElements>
    <a:clrScheme name="Mouna Beige and Burgundy">
      <a:dk1>
        <a:srgbClr val="3F3B38"/>
      </a:dk1>
      <a:lt1>
        <a:srgbClr val="F6F0E6"/>
      </a:lt1>
      <a:dk2>
        <a:srgbClr val="6E6862"/>
      </a:dk2>
      <a:lt2>
        <a:srgbClr val="FFFDF9"/>
      </a:lt2>
      <a:accent1>
        <a:srgbClr val="7A1F2B"/>
      </a:accent1>
      <a:accent2>
        <a:srgbClr val="B5838B"/>
      </a:accent2>
      <a:accent3>
        <a:srgbClr val="9A948C"/>
      </a:accent3>
      <a:accent4>
        <a:srgbClr val="E3D6BF"/>
      </a:accent4>
      <a:accent5>
        <a:srgbClr val="55141E"/>
      </a:accent5>
      <a:accent6>
        <a:srgbClr val="C9BBA4"/>
      </a:accent6>
      <a:hlink>
        <a:srgbClr val="7A1F2B"/>
      </a:hlink>
      <a:folHlink>
        <a:srgbClr val="6E6862"/>
      </a:folHlink>
    </a:clrScheme>
    <a:fontScheme name="Mouna Beige and Burgundy">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Mouna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Mouna: every soul deserves a voice</dc:title>
  <dc:subject>PptxGenJS Presentation</dc:subject>
  <dc:creator>Team Mouna</dc:creator>
  <cp:lastModifiedBy>Team Mouna</cp:lastModifiedBy>
  <cp:revision>1</cp:revision>
  <dcterms:created xsi:type="dcterms:W3CDTF">2026-10-09T20:55:52Z</dcterms:created>
  <dcterms:modified xsi:type="dcterms:W3CDTF">2026-10-09T20:55:52Z</dcterms:modified>
</cp:coreProperties>
</file>