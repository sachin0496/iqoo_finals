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98183ccb-8f2c-03ef-dcf2-827d5729794e}">
          <p14:sldIdLst>
            <p14:sldId id="256"/>
            <p14:sldId id="257"/>
            <p14:sldId id="258"/>
            <p14:sldId id="259"/>
          </p14:sldIdLst>
        </p14:section>
        <p14:section name="Product" id="{037c4d6e-0f6b-e1bf-2f4f-88f8b6155767}">
          <p14:sldIdLst>
            <p14:sldId id="260"/>
            <p14:sldId id="261"/>
            <p14:sldId id="262"/>
          </p14:sldIdLst>
        </p14:section>
        <p14:section name="Evidence" id="{501a5c6b-eb31-8fde-566f-44440e14ded5}">
          <p14:sldIdLst>
            <p14:sldId id="263"/>
            <p14:sldId id="264"/>
            <p14:sldId id="265"/>
            <p14:sldId id="266"/>
          </p14:sldIdLst>
        </p14:section>
        <p14:section name="Demo and plan" id="{37c320d0-dfd3-d589-8082-369444c6f8a9}">
          <p14:sldIdLst>
            <p14:sldId id="267"/>
            <p14:sldId id="268"/>
          </p14:sldIdLst>
        </p14:section>
        <p14:section name="Close" id="{821c2382-a7eb-af93-f8fa-3ca3883547dd}">
          <p14:sldIdLst>
            <p14:sldId id="269"/>
          </p14:sldIdLst>
        </p14:section>
        <p14:section name="Appendix" id="{969f52e9-c85c-4c50-a9a8-389e77853833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9B2A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B9B2A3"/>
                </a:solidFill>
                <a:latin typeface="+mn-lt"/>
              </a:rPr>
              <a:t>Top-1 % by samples taught per phrase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LipLearner, published (English, 30 commands)</c:v>
                </c:pt>
              </c:strCache>
            </c:strRef>
          </c:tx>
          <c:spPr>
            <a:solidFill>
              <a:srgbClr val="8A847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6D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sample</c:v>
                  </c:pt>
                  <c:pt idx="1">
                    <c:v>3 samples</c:v>
                  </c:pt>
                  <c:pt idx="2">
                    <c:v>5 samples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81.7</c:v>
                </c:pt>
                <c:pt idx="1">
                  <c:v>96</c:v>
                </c:pt>
                <c:pt idx="2">
                  <c:v>98.8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Mouna, measured (Kannada, 27 classes, 7 speakers)</c:v>
                </c:pt>
              </c:strCache>
            </c:strRef>
          </c:tx>
          <c:spPr>
            <a:solidFill>
              <a:srgbClr val="F0A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6D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sample</c:v>
                  </c:pt>
                  <c:pt idx="1">
                    <c:v>3 samples</c:v>
                  </c:pt>
                  <c:pt idx="2">
                    <c:v>5 samples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71.9</c:v>
                </c:pt>
                <c:pt idx="1">
                  <c:v>85.2</c:v>
                </c:pt>
                <c:pt idx="2">
                  <c:v>89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EDE6D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2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9B2A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9B2A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B9B2A3"/>
                </a:solidFill>
                <a:latin typeface="+mn-lt"/>
              </a:rPr>
              <a:t>Milliseconds per window, Galaxy S26 (SM8850, as in the iQOO 15)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per window</c:v>
                </c:pt>
              </c:strCache>
            </c:strRef>
          </c:tx>
          <c:spPr>
            <a:solidFill>
              <a:srgbClr val="F0A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6D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A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47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Whole encoder · NPU</c:v>
                  </c:pt>
                  <c:pt idx="1">
                    <c:v>Before: front end NPU + GRU CPU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18.4</c:v>
                </c:pt>
                <c:pt idx="1">
                  <c:v>193.5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EDE6D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B2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2.2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Mouna means silence in Tamil, Kannada and Hindi. It is a phone app for people who can move their lips but cannot make a sound, after a laryngectomy, a tracheostomy or some strokes. They teach it a few phrases by mouthing them, and from then on the phone speaks those phrases aloud in the caregiver’s language, with no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summary for reviewers. Every number is measured or cited, and repeated with its source in Appendix B (key facts). Proof: Kannada multi-speaker lip-reading dataset (Divya P, Mendeley Data 2026, CC BY 4.0), same-session split. Platform: Qualcomm AI Hub profile on a Samsung Galaxy S26.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it helps: people who know what they want to say and can move their lips, but cannot vocalise: after laryngectomy, tracheostomy, some strokes and motor neurone disease. It does not help aphasia, which is a language impairment. The tracheo-oesophageal prosthesis is the standard of voice rehabilitation after total laryngectomy (National Cancer Grid head and neck guideline, 2019), which still leaves a gap before it works. We do not use any real patient; this is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GLOBOCAN 2024 India: laryngeal 35,169 new cases, hypopharyngeal 35,489; about 70,000 combined. We do not claim a laryngectomy count; it is not published in what we found. Stroke: Mathur et al., hospital-based stroke registries, 2020-22: motor impairment 74.8%, speech disturbance 51.2%. Speech disturbance includes aphasia, which Mouna does not address. SRAVI: 21.8% on fixed English phrases, 34.6% free-speech version, in the HRA-summarised UK critical-care study; a larger trial was judged not currently feasible. Fassler et al. 2026: 16 laryngectomy patients, 43% first try, 67% overall, 69.7% preferred it to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phrase is a concept with fixed, human-checked labels in several languages, so a Tamil-speaking patient can be heard in Kannada by the nurse. No machine translation at runtime. Starter pack: 12 phrases plus “Thank you very much”, in English, Tamil, Kannada and Hindi; native-speaker review is in progress. Phrase design follows the LipLearner finding that longer commands are recognised better: at least three syllables, different lengths, avoid look-alike lip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CameraX front camera; MediaPipe Face Landmarker (Apache-2.0) on GPU; landmark smoothing and an aligned grayscale mouth crop; a cheap lip-activity gate on CPU; a visual-speech encoder of the LipLearner class (3D-CNN front end, ResNet-18 trunk, contrastive pre-training on LRW) on the Snapdragon NPU with GPU/CPU fallback; a few-shot head (prototypes plus a linear head with an idle class); then the confidence gate and pre-rendered voices. Measured so far (deck/data/encoder-report.json): 59.52M parameters, 228.5 MB ONNX fp32, 58.2 ms per 1 s window on a laptop CPU. The bundle and end-to-end latency figures are targets until measured on the phone. Lessons from our VeriTransit build on the same phone: ship every model in the app, warm the NPU context before the pitch, retry on HTP context error 1007, keep a GPU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Blink-to-talk: eye aspect ratio from the face landmarks already tracked; a double blink within a second starts a clip, which ends when the lips stop. Voice banking: microphone and camera record together while teaching; the recording stays on the device. Nurse-call link: WebRTC data channel with no ICE servers, paired by QR code; the caregiver acknowledges with "Coming". Corrections are saved as new teaching samples. Context re-ranking only reorders the three choices shown when Mouna is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LipLearner: Su, Fang, Rekimoto, CHI 2023 (arXiv 2302.05907): 30 English commands, healthy users, iPhone: 81.7 / 96.0 / 98.8% top-1 at 1 / 3 / 5 samples. Mouna: the LipLearner encoder with our few-shot head on the Kannada multi-speaker lip-reading dataset (Divya P, Mendeley Data 2026, doi:10.17632/zbzrbs89pz.1, CC BY 4.0): 1 sample 71.9%, 3 samples 85.2%, 5 samples 89.0% top-1 on the same 1333 held-out clips. Our classes include many two-syllable single words, which are harder than LipLearner’s commands. The recordings are voiced; silent mouthing is expected to cost a few points. Pass lines for our own silent spike were set before measuring: 95% same session, 90% next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Qualcomm AI Hub jobs on a Samsung Galaxy S26 (Snapdragon 8 Elite Gen 5, SM8850). Whole static encoder on the NPU: 18.35 ms (compile jg9ol3jwg, profile jp1o4dy85). Before the rewrite, only the front end ran on the NPU (6.67 ms) and the GRU on the CPU (186.86 ms, 2.56 s window). Accuracy and size from deck/data/encoder-static.json: int8 86.3 MB and fp32 230.1 MB both reach 86.2% top-1.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harness/mouna_harness/openset.py on the Kannada multi-speaker dataset (deck/data/kannada-openset-plana.json, -planb.json). Encoder, 8 classes taught: taught words 93.0% top-1; untaught words spoken as a taught phrase 23.2%, offered as choices 62.8%, said not taught 14.0%. Careful mode scales the speak threshold by 0.7: untaught spoken 7.2% (lip geometry 8.7%), and taught phrases spoken directly fall from 85.1% to 66.9%; the rest become choices. Chained blocks: 23 sentences written before scoring; 2 blocks 69.2% block by block, 89.2% with the list, ceiling of any re-ranking over the top three 85.6%; 3 blocks 70.9% to 86.7%. The commonest remaining mistakes are water/snack and want/don't-want, which no language model can fix, so every sentence is confirmed. Ask mode is partner-assisted scanning done by the device, from a fixed tree; small language models plan twenty questions poorly, so none is used here. ICU needs: thirst and pain on repositioning (69% each) lead in reviews of ventilated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LipLearner: MIT-licensed code, iOS app, English commands; we credit the method. Liperty: open-source Android lip reading, SyncVSR trained on English LRS3, about a 1.4 GB first-launch download, per-user personalisation marked in progress. SRAVI: about 40 English phrases, video processed in the cloud, CE-marked and MHRA-registered, hospital-only. Voice Back: AAC app that speaks from taps or text with a voice clone; complementary. Also related: MELDER (CHI 2024) real-time mobile lip reader with server-side recognition; Auto-AVSR and Chaplin-UI, desktop open-vocabulary lip reading around 19-20% WER on LRS3.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phone on a stand, front light, no backlight. Judge-proofing: check beards, glasses, caps and masks in rehearsal; ask the judge to face the lens and mouth as if whispering. The failure case is shown on purpose: an untaught phrase produces “not sure” and three candidates. In a ward, guessing is worse than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risks in the repo: encoder weight licence (checked on day one; plan B needs no weights), offline voices missing on the loaner phone (pre-rendered clips), patient limits such as oxygen masks, beards, bandages and facial droop (stated as limits; tap board later), misreading in a clinical setting (never auto-speak low confidence; not a medical device), prior-art challenges (we cite LipLearner, Liperty and SRAVI), and pre-built work (spike in a separate, disclosed repo; all Finale code written in the window).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Pre-operative lip banking: the patient says the phrases aloud before surgery, on-device speech recognition labels them, and the model adapts after surgery; LipLearner saw about a 5.6-point drop from voiced to silent samples. Facial data is personal data under India’s DPDP Act; on-device processing minimises exposure, but we do not claim compliance. A legal and clinical read is needed before any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one-slide summary for reviewers reading the deck offline. Every claim maps to a slide earlier in the deck, and every number has a source in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list of every quantitative claim in the deck and where it comes from. Targets (end-to-end latency, bundle size) are not listed because they are not yet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verified prior builds are listed here. The feasibility spike repository is linked in the submission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i="1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defRPr>
            </a:lvl1pPr>
          </a:lstStyle>
          <a:p>
            <a:pPr algn="l"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Mouna  ·  iQOO Hackathon  ·  Open Innovation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ouna-spike.vercel.ap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800" i="1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mouna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Mouth it. Mouna says it.</a:t>
            </a:r>
            <a:endParaRPr lang="en-US" sz="2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phone app that lets a person who cannot make sound speak by mouthing words, in the caregiver’s language, offline.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மௌனம்   ಮೌನ   मौन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“silence” in Tamil, Kannada and Hindi</a:t>
            </a:r>
            <a:endParaRPr lang="en-US" sz="1200" dirty="0"/>
          </a:p>
        </p:txBody>
      </p:sp>
      <p:sp>
        <p:nvSpPr>
          <p:cNvPr id="6" name="wave-1"/>
          <p:cNvSpPr/>
          <p:nvPr/>
        </p:nvSpPr>
        <p:spPr>
          <a:xfrm>
            <a:off x="8695944" y="2933722"/>
            <a:ext cx="50292" cy="35047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wave-2"/>
          <p:cNvSpPr/>
          <p:nvPr/>
        </p:nvSpPr>
        <p:spPr>
          <a:xfrm>
            <a:off x="8796528" y="2676642"/>
            <a:ext cx="50292" cy="8646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wave-3"/>
          <p:cNvSpPr/>
          <p:nvPr/>
        </p:nvSpPr>
        <p:spPr>
          <a:xfrm>
            <a:off x="8897112" y="2519336"/>
            <a:ext cx="50292" cy="11792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wave-4"/>
          <p:cNvSpPr/>
          <p:nvPr/>
        </p:nvSpPr>
        <p:spPr>
          <a:xfrm>
            <a:off x="8997696" y="2461025"/>
            <a:ext cx="50292" cy="129587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wave-5"/>
          <p:cNvSpPr/>
          <p:nvPr/>
        </p:nvSpPr>
        <p:spPr>
          <a:xfrm>
            <a:off x="9098280" y="2563850"/>
            <a:ext cx="50292" cy="10902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wave-6"/>
          <p:cNvSpPr/>
          <p:nvPr/>
        </p:nvSpPr>
        <p:spPr>
          <a:xfrm>
            <a:off x="9198864" y="2639537"/>
            <a:ext cx="50292" cy="93884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wave-7"/>
          <p:cNvSpPr/>
          <p:nvPr/>
        </p:nvSpPr>
        <p:spPr>
          <a:xfrm>
            <a:off x="9299448" y="2354876"/>
            <a:ext cx="50292" cy="1508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wave-8"/>
          <p:cNvSpPr/>
          <p:nvPr/>
        </p:nvSpPr>
        <p:spPr>
          <a:xfrm>
            <a:off x="9400032" y="2125843"/>
            <a:ext cx="50292" cy="196623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wave-9"/>
          <p:cNvSpPr/>
          <p:nvPr/>
        </p:nvSpPr>
        <p:spPr>
          <a:xfrm>
            <a:off x="9500616" y="2050959"/>
            <a:ext cx="50292" cy="211600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wave-10"/>
          <p:cNvSpPr/>
          <p:nvPr/>
        </p:nvSpPr>
        <p:spPr>
          <a:xfrm>
            <a:off x="9601200" y="1964491"/>
            <a:ext cx="50292" cy="228893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wave-11"/>
          <p:cNvSpPr/>
          <p:nvPr/>
        </p:nvSpPr>
        <p:spPr>
          <a:xfrm>
            <a:off x="9701784" y="2500287"/>
            <a:ext cx="50292" cy="121734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wave-12"/>
          <p:cNvSpPr/>
          <p:nvPr/>
        </p:nvSpPr>
        <p:spPr>
          <a:xfrm>
            <a:off x="9802368" y="2327938"/>
            <a:ext cx="50292" cy="15620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wave-13"/>
          <p:cNvSpPr/>
          <p:nvPr/>
        </p:nvSpPr>
        <p:spPr>
          <a:xfrm>
            <a:off x="9902952" y="1912443"/>
            <a:ext cx="50292" cy="239303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wave-14"/>
          <p:cNvSpPr/>
          <p:nvPr/>
        </p:nvSpPr>
        <p:spPr>
          <a:xfrm>
            <a:off x="10003536" y="1846528"/>
            <a:ext cx="50292" cy="252486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wave-15"/>
          <p:cNvSpPr/>
          <p:nvPr/>
        </p:nvSpPr>
        <p:spPr>
          <a:xfrm>
            <a:off x="10104120" y="1873946"/>
            <a:ext cx="50292" cy="24700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wave-16"/>
          <p:cNvSpPr/>
          <p:nvPr/>
        </p:nvSpPr>
        <p:spPr>
          <a:xfrm>
            <a:off x="10204704" y="2034713"/>
            <a:ext cx="50292" cy="214849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wave-17"/>
          <p:cNvSpPr/>
          <p:nvPr/>
        </p:nvSpPr>
        <p:spPr>
          <a:xfrm>
            <a:off x="10305288" y="2622340"/>
            <a:ext cx="50292" cy="97323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wave-18"/>
          <p:cNvSpPr/>
          <p:nvPr/>
        </p:nvSpPr>
        <p:spPr>
          <a:xfrm>
            <a:off x="10405872" y="2331431"/>
            <a:ext cx="50292" cy="155505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wave-19"/>
          <p:cNvSpPr/>
          <p:nvPr/>
        </p:nvSpPr>
        <p:spPr>
          <a:xfrm>
            <a:off x="10506456" y="2007016"/>
            <a:ext cx="50292" cy="220388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wave-20"/>
          <p:cNvSpPr/>
          <p:nvPr/>
        </p:nvSpPr>
        <p:spPr>
          <a:xfrm>
            <a:off x="10607040" y="1918160"/>
            <a:ext cx="50292" cy="238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wave-21"/>
          <p:cNvSpPr/>
          <p:nvPr/>
        </p:nvSpPr>
        <p:spPr>
          <a:xfrm>
            <a:off x="10707624" y="2067503"/>
            <a:ext cx="50292" cy="208291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wave-22"/>
          <p:cNvSpPr/>
          <p:nvPr/>
        </p:nvSpPr>
        <p:spPr>
          <a:xfrm>
            <a:off x="10808208" y="2451930"/>
            <a:ext cx="50292" cy="131405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wave-23"/>
          <p:cNvSpPr/>
          <p:nvPr/>
        </p:nvSpPr>
        <p:spPr>
          <a:xfrm>
            <a:off x="10908792" y="2635925"/>
            <a:ext cx="50292" cy="94607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wave-24"/>
          <p:cNvSpPr/>
          <p:nvPr/>
        </p:nvSpPr>
        <p:spPr>
          <a:xfrm>
            <a:off x="11009376" y="2318666"/>
            <a:ext cx="50292" cy="158058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wave-25"/>
          <p:cNvSpPr/>
          <p:nvPr/>
        </p:nvSpPr>
        <p:spPr>
          <a:xfrm>
            <a:off x="11109960" y="2255795"/>
            <a:ext cx="50292" cy="170633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wave-26"/>
          <p:cNvSpPr/>
          <p:nvPr/>
        </p:nvSpPr>
        <p:spPr>
          <a:xfrm>
            <a:off x="11210544" y="2330751"/>
            <a:ext cx="50292" cy="155641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wave-27"/>
          <p:cNvSpPr/>
          <p:nvPr/>
        </p:nvSpPr>
        <p:spPr>
          <a:xfrm>
            <a:off x="11311128" y="2610259"/>
            <a:ext cx="50292" cy="99740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wave-28"/>
          <p:cNvSpPr/>
          <p:nvPr/>
        </p:nvSpPr>
        <p:spPr>
          <a:xfrm>
            <a:off x="11411712" y="2811957"/>
            <a:ext cx="50292" cy="59400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wave-29"/>
          <p:cNvSpPr/>
          <p:nvPr/>
        </p:nvSpPr>
        <p:spPr>
          <a:xfrm>
            <a:off x="11512296" y="2969836"/>
            <a:ext cx="50292" cy="278247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074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89.0% top-1 on 7 Kannada speakers  ·  whole encoder 18.4 ms on the iQOO 15’s NPU  ·  no internet permission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Team Highest in the Room  ·  Maadhav V H  ·  Sachin A S  ·  Nakul 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Open Innovation track  ·  built phone-first for the iQOO 15 (Snapdragon NPU)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598932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prototype: mouna-spike.vercel.app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Mouna lets people who have lost their voice speak by mouthing, offline, in Indian languages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74650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After laryngectomy, tracheostomy or stroke, many patients can move their lips but make no sound.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783080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~70,000 new laryngeal and hypopharyngeal cancers a year in India (GLOBOCAN 2024)</a:t>
            </a:r>
            <a:endParaRPr lang="en-US" sz="1100" dirty="0"/>
          </a:p>
        </p:txBody>
      </p:sp>
      <p:sp>
        <p:nvSpPr>
          <p:cNvPr id="7" name="rule-1"/>
          <p:cNvSpPr/>
          <p:nvPr/>
        </p:nvSpPr>
        <p:spPr>
          <a:xfrm>
            <a:off x="548640" y="256946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4261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Teach three phrases in about 25 s by mouthing them; the phone then speaks each one in the caregiver’s language, in a natural voice the patient chooses.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67919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Kannada, Tamil, Hindi, English; mouth in one, be heard in another</a:t>
            </a:r>
            <a:endParaRPr lang="en-US" sz="1100" dirty="0"/>
          </a:p>
        </p:txBody>
      </p:sp>
      <p:sp>
        <p:nvSpPr>
          <p:cNvPr id="11" name="rule-2"/>
          <p:cNvSpPr/>
          <p:nvPr/>
        </p:nvSpPr>
        <p:spPr>
          <a:xfrm>
            <a:off x="548640" y="3465576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75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53872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With five samples per phrase it reads 89.0% of words and phrases right first time; 97.3% of two-word phrases with three.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575304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7 Kannada speakers, 27 classes, public CC BY dataset; right 94.3% of the times it chose to speak</a:t>
            </a:r>
            <a:endParaRPr lang="en-US" sz="1100" dirty="0"/>
          </a:p>
        </p:txBody>
      </p:sp>
      <p:sp>
        <p:nvSpPr>
          <p:cNvPr id="15" name="rule-3"/>
          <p:cNvSpPr/>
          <p:nvPr/>
        </p:nvSpPr>
        <p:spPr>
          <a:xfrm>
            <a:off x="548640" y="436168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71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434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whole lip encoder runs on the Hexagon NPU of the iQOO 15’s chip: 18.4 ms for 1.92 s of lips, every layer on the NPU.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71416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Galaxy S26 (same SM8850) via Qualcomm AI Hub; int8 model 86.3 MB; no internet permission</a:t>
            </a:r>
            <a:endParaRPr lang="en-US" sz="1100" dirty="0"/>
          </a:p>
        </p:txBody>
      </p:sp>
      <p:sp>
        <p:nvSpPr>
          <p:cNvPr id="19" name="rule-4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67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533095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It asks instead of guessing, confirms urgent phrases, stores no video, credits LipLearner and states its limits.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5367528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Communication aid, not a medical device; pilot with a speech-language pathology team next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SITUATION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After throat surgery or a stroke, many patients can still move their lips but make no sound</a:t>
            </a:r>
            <a:endParaRPr lang="en-US" sz="3000" dirty="0"/>
          </a:p>
        </p:txBody>
      </p:sp>
      <p:sp>
        <p:nvSpPr>
          <p:cNvPr id="4" name="today"/>
          <p:cNvSpPr/>
          <p:nvPr/>
        </p:nvSpPr>
        <p:spPr>
          <a:xfrm>
            <a:off x="548640" y="1920240"/>
            <a:ext cx="5349240" cy="411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ward at 3 a.m. The patient needs water, or is in pain.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Hands are weak or taped to a line; the whiteboard is slow and the script may not be theirs.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 nurse may speak another language than the patient.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Voice prostheses help many people later, but there is a gap before they work.</a:t>
            </a:r>
            <a:endParaRPr lang="en-US" sz="1600" dirty="0"/>
          </a:p>
        </p:txBody>
      </p:sp>
      <p:sp>
        <p:nvSpPr>
          <p:cNvPr id="7" name="with-mouna"/>
          <p:cNvSpPr/>
          <p:nvPr/>
        </p:nvSpPr>
        <p:spPr>
          <a:xfrm>
            <a:off x="6291072" y="1920240"/>
            <a:ext cx="5349240" cy="411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MOUNA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patient mouths “I need water” in Tamil.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எனக்கு தண்ணீர் வேண்டும்</a:t>
            </a:r>
            <a:endParaRPr lang="en-US" sz="2000" dirty="0"/>
          </a:p>
        </p:txBody>
      </p:sp>
      <p:sp>
        <p:nvSpPr>
          <p:cNvPr id="11" name="wave-1"/>
          <p:cNvSpPr/>
          <p:nvPr/>
        </p:nvSpPr>
        <p:spPr>
          <a:xfrm>
            <a:off x="6727698" y="4086925"/>
            <a:ext cx="58293" cy="5575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wave-2"/>
          <p:cNvSpPr/>
          <p:nvPr/>
        </p:nvSpPr>
        <p:spPr>
          <a:xfrm>
            <a:off x="6844284" y="4044855"/>
            <a:ext cx="58293" cy="13989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wave-3"/>
          <p:cNvSpPr/>
          <p:nvPr/>
        </p:nvSpPr>
        <p:spPr>
          <a:xfrm>
            <a:off x="6960870" y="4019293"/>
            <a:ext cx="58293" cy="19101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wave-4"/>
          <p:cNvSpPr/>
          <p:nvPr/>
        </p:nvSpPr>
        <p:spPr>
          <a:xfrm>
            <a:off x="7077456" y="4021042"/>
            <a:ext cx="58293" cy="1875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wave-5"/>
          <p:cNvSpPr/>
          <p:nvPr/>
        </p:nvSpPr>
        <p:spPr>
          <a:xfrm>
            <a:off x="7194042" y="4020496"/>
            <a:ext cx="58293" cy="18860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wave-6"/>
          <p:cNvSpPr/>
          <p:nvPr/>
        </p:nvSpPr>
        <p:spPr>
          <a:xfrm>
            <a:off x="7310628" y="4043793"/>
            <a:ext cx="58293" cy="14201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wave-7"/>
          <p:cNvSpPr/>
          <p:nvPr/>
        </p:nvSpPr>
        <p:spPr>
          <a:xfrm>
            <a:off x="7427214" y="3976710"/>
            <a:ext cx="58293" cy="27618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wave-8"/>
          <p:cNvSpPr/>
          <p:nvPr/>
        </p:nvSpPr>
        <p:spPr>
          <a:xfrm>
            <a:off x="7543800" y="3929561"/>
            <a:ext cx="58293" cy="37047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wave-9"/>
          <p:cNvSpPr/>
          <p:nvPr/>
        </p:nvSpPr>
        <p:spPr>
          <a:xfrm>
            <a:off x="7660386" y="3913180"/>
            <a:ext cx="58293" cy="40323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wave-10"/>
          <p:cNvSpPr/>
          <p:nvPr/>
        </p:nvSpPr>
        <p:spPr>
          <a:xfrm>
            <a:off x="7776972" y="3948226"/>
            <a:ext cx="58293" cy="33314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wave-11"/>
          <p:cNvSpPr/>
          <p:nvPr/>
        </p:nvSpPr>
        <p:spPr>
          <a:xfrm>
            <a:off x="7893558" y="4008465"/>
            <a:ext cx="58293" cy="21267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wave-12"/>
          <p:cNvSpPr/>
          <p:nvPr/>
        </p:nvSpPr>
        <p:spPr>
          <a:xfrm>
            <a:off x="8010144" y="3973272"/>
            <a:ext cx="58293" cy="28305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3" name="wave-13"/>
          <p:cNvSpPr/>
          <p:nvPr/>
        </p:nvSpPr>
        <p:spPr>
          <a:xfrm>
            <a:off x="8126730" y="3924781"/>
            <a:ext cx="58293" cy="38003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wave-14"/>
          <p:cNvSpPr/>
          <p:nvPr/>
        </p:nvSpPr>
        <p:spPr>
          <a:xfrm>
            <a:off x="8243316" y="3867250"/>
            <a:ext cx="58293" cy="49509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wave-15"/>
          <p:cNvSpPr/>
          <p:nvPr/>
        </p:nvSpPr>
        <p:spPr>
          <a:xfrm>
            <a:off x="8359902" y="3856859"/>
            <a:ext cx="58293" cy="51588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wave-16"/>
          <p:cNvSpPr/>
          <p:nvPr/>
        </p:nvSpPr>
        <p:spPr>
          <a:xfrm>
            <a:off x="8476488" y="3898950"/>
            <a:ext cx="58293" cy="43170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7" name="wave-17"/>
          <p:cNvSpPr/>
          <p:nvPr/>
        </p:nvSpPr>
        <p:spPr>
          <a:xfrm>
            <a:off x="8593074" y="4009027"/>
            <a:ext cx="58293" cy="21154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8" name="wave-18"/>
          <p:cNvSpPr/>
          <p:nvPr/>
        </p:nvSpPr>
        <p:spPr>
          <a:xfrm>
            <a:off x="8709660" y="3956398"/>
            <a:ext cx="58293" cy="31680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9" name="wave-19"/>
          <p:cNvSpPr/>
          <p:nvPr/>
        </p:nvSpPr>
        <p:spPr>
          <a:xfrm>
            <a:off x="8826246" y="3882157"/>
            <a:ext cx="58293" cy="46528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wave-20"/>
          <p:cNvSpPr/>
          <p:nvPr/>
        </p:nvSpPr>
        <p:spPr>
          <a:xfrm>
            <a:off x="8942832" y="3815943"/>
            <a:ext cx="58293" cy="59771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wave-21"/>
          <p:cNvSpPr/>
          <p:nvPr/>
        </p:nvSpPr>
        <p:spPr>
          <a:xfrm>
            <a:off x="9059418" y="3855922"/>
            <a:ext cx="58293" cy="51775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wave-22"/>
          <p:cNvSpPr/>
          <p:nvPr/>
        </p:nvSpPr>
        <p:spPr>
          <a:xfrm>
            <a:off x="9176004" y="3933718"/>
            <a:ext cx="58293" cy="3621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wave-23"/>
          <p:cNvSpPr/>
          <p:nvPr/>
        </p:nvSpPr>
        <p:spPr>
          <a:xfrm>
            <a:off x="9292590" y="4004456"/>
            <a:ext cx="58293" cy="22068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wave-24"/>
          <p:cNvSpPr/>
          <p:nvPr/>
        </p:nvSpPr>
        <p:spPr>
          <a:xfrm>
            <a:off x="9409176" y="3931174"/>
            <a:ext cx="58293" cy="3672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5" name="wave-25"/>
          <p:cNvSpPr/>
          <p:nvPr/>
        </p:nvSpPr>
        <p:spPr>
          <a:xfrm>
            <a:off x="9525762" y="3876456"/>
            <a:ext cx="58293" cy="47668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6" name="wave-26"/>
          <p:cNvSpPr/>
          <p:nvPr/>
        </p:nvSpPr>
        <p:spPr>
          <a:xfrm>
            <a:off x="9642348" y="3837045"/>
            <a:ext cx="58293" cy="55551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7" name="wave-27"/>
          <p:cNvSpPr/>
          <p:nvPr/>
        </p:nvSpPr>
        <p:spPr>
          <a:xfrm>
            <a:off x="9758934" y="3933393"/>
            <a:ext cx="58293" cy="36281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wave-28"/>
          <p:cNvSpPr/>
          <p:nvPr/>
        </p:nvSpPr>
        <p:spPr>
          <a:xfrm>
            <a:off x="9875520" y="3994314"/>
            <a:ext cx="58293" cy="2409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9" name="wave-29"/>
          <p:cNvSpPr/>
          <p:nvPr/>
        </p:nvSpPr>
        <p:spPr>
          <a:xfrm>
            <a:off x="9992106" y="3995334"/>
            <a:ext cx="58293" cy="2389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0" name="wave-30"/>
          <p:cNvSpPr/>
          <p:nvPr/>
        </p:nvSpPr>
        <p:spPr>
          <a:xfrm>
            <a:off x="10108692" y="3925379"/>
            <a:ext cx="58293" cy="37884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1" name="wave-31"/>
          <p:cNvSpPr/>
          <p:nvPr/>
        </p:nvSpPr>
        <p:spPr>
          <a:xfrm>
            <a:off x="10225278" y="3939580"/>
            <a:ext cx="58293" cy="350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2" name="wave-32"/>
          <p:cNvSpPr/>
          <p:nvPr/>
        </p:nvSpPr>
        <p:spPr>
          <a:xfrm>
            <a:off x="10341864" y="3934347"/>
            <a:ext cx="58293" cy="36090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3" name="wave-33"/>
          <p:cNvSpPr/>
          <p:nvPr/>
        </p:nvSpPr>
        <p:spPr>
          <a:xfrm>
            <a:off x="10458450" y="3963070"/>
            <a:ext cx="58293" cy="3034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4" name="wave-34"/>
          <p:cNvSpPr/>
          <p:nvPr/>
        </p:nvSpPr>
        <p:spPr>
          <a:xfrm>
            <a:off x="10575036" y="4042350"/>
            <a:ext cx="58293" cy="14490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5" name="wave-35"/>
          <p:cNvSpPr/>
          <p:nvPr/>
        </p:nvSpPr>
        <p:spPr>
          <a:xfrm>
            <a:off x="10691622" y="4038477"/>
            <a:ext cx="58293" cy="15264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6" name="wave-36"/>
          <p:cNvSpPr/>
          <p:nvPr/>
        </p:nvSpPr>
        <p:spPr>
          <a:xfrm>
            <a:off x="10808208" y="4003206"/>
            <a:ext cx="58293" cy="22318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7" name="wave-37"/>
          <p:cNvSpPr/>
          <p:nvPr/>
        </p:nvSpPr>
        <p:spPr>
          <a:xfrm>
            <a:off x="10924794" y="4000574"/>
            <a:ext cx="58293" cy="22845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8" name="wave-38"/>
          <p:cNvSpPr/>
          <p:nvPr/>
        </p:nvSpPr>
        <p:spPr>
          <a:xfrm>
            <a:off x="11041380" y="4047611"/>
            <a:ext cx="58293" cy="13437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9" name="wave-39"/>
          <p:cNvSpPr/>
          <p:nvPr/>
        </p:nvSpPr>
        <p:spPr>
          <a:xfrm>
            <a:off x="11157966" y="4078809"/>
            <a:ext cx="58293" cy="7198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11112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phone says it aloud, in Kannada, for the nurse: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611112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ನನಗೆ ನೀರು ಬೇಕು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NUMBERS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need is large, and the one clinical lip-reading app struggles exactly where it is needed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~70,000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new laryngeal and hypopharyngeal cancers a year in India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GLOBOCAN 2024, India fact sheet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28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51.2%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stroke patients show speech disturbance at onset (34,792 cases, 30 centres)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Mathur et al., Indian hospital stroke registries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828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chemeClr val="accent2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21.8%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accuracy of the cloud lip-reading app SRAVI in UK critical care; Wi-Fi limits hurt usability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HRA summary of the SRAVI study</a:t>
            </a:r>
            <a:endParaRPr lang="en-US" sz="1100" dirty="0"/>
          </a:p>
        </p:txBody>
      </p:sp>
      <p:sp>
        <p:nvSpPr>
          <p:cNvPr id="13" name="insight"/>
          <p:cNvSpPr/>
          <p:nvPr/>
        </p:nvSpPr>
        <p:spPr>
          <a:xfrm>
            <a:off x="548640" y="4800600"/>
            <a:ext cx="11094415" cy="10058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evidence says: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patients after laryngectomy preferred lip-reading to writing (69.7%, n = 16), but a fixed, cloud, English-only, speaker-independent model is too weak in a ward. Personalised, on-device, multilingual is the gap.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WHAT MOUNA DOES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Teach three phrases in about 25 seconds, mouth them silently, and the caregiver hears them in their own language</a:t>
            </a:r>
            <a:endParaRPr lang="en-US" sz="3000" dirty="0"/>
          </a:p>
        </p:txBody>
      </p:sp>
      <p:sp>
        <p:nvSpPr>
          <p:cNvPr id="4" name="step-1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562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Teach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86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Mouth each phrase three times. A quality gate re-asks any clip with the face lost, the head turned or the lips still.</a:t>
            </a:r>
            <a:endParaRPr lang="en-US" sz="1400" dirty="0"/>
          </a:p>
        </p:txBody>
      </p:sp>
      <p:sp>
        <p:nvSpPr>
          <p:cNvPr id="8" name="step-2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192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27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Mouth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57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Phone on a stand at 30–45 cm. Hold the large button, mouth the phrase, release. No sound needed, so ward noise does not matter.</a:t>
            </a:r>
            <a:endParaRPr lang="en-US" sz="1400" dirty="0"/>
          </a:p>
        </p:txBody>
      </p:sp>
      <p:sp>
        <p:nvSpPr>
          <p:cNvPr id="12" name="step-3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908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5994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Speak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029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Confident: it speaks in a natural voice the patient chooses, and shows large text. Unsure: it shows the top three to tap.</a:t>
            </a:r>
            <a:endParaRPr lang="en-US" sz="1400" dirty="0"/>
          </a:p>
        </p:txBody>
      </p:sp>
      <p:sp>
        <p:nvSpPr>
          <p:cNvPr id="16" name="phone"/>
          <p:cNvSpPr/>
          <p:nvPr/>
        </p:nvSpPr>
        <p:spPr>
          <a:xfrm>
            <a:off x="8001000" y="1783080"/>
            <a:ext cx="2743200" cy="44348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CAREGIVER HEARS  ·  ಕನ್ನಡ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146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ನನಗೆ ನೀರು ಬೇಕು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 need water  ·  NPU  ·  ms per window measured</a:t>
            </a:r>
            <a:endParaRPr lang="en-US" sz="900" dirty="0"/>
          </a:p>
        </p:txBody>
      </p:sp>
      <p:sp>
        <p:nvSpPr>
          <p:cNvPr id="20" name="wave-1"/>
          <p:cNvSpPr/>
          <p:nvPr/>
        </p:nvSpPr>
        <p:spPr>
          <a:xfrm>
            <a:off x="8317523" y="4199519"/>
            <a:ext cx="43962" cy="59161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wave-2"/>
          <p:cNvSpPr/>
          <p:nvPr/>
        </p:nvSpPr>
        <p:spPr>
          <a:xfrm>
            <a:off x="8405446" y="4150568"/>
            <a:ext cx="43962" cy="15706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wave-3"/>
          <p:cNvSpPr/>
          <p:nvPr/>
        </p:nvSpPr>
        <p:spPr>
          <a:xfrm>
            <a:off x="8493369" y="4114388"/>
            <a:ext cx="43962" cy="22942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3" name="wave-4"/>
          <p:cNvSpPr/>
          <p:nvPr/>
        </p:nvSpPr>
        <p:spPr>
          <a:xfrm>
            <a:off x="8581292" y="4123092"/>
            <a:ext cx="43962" cy="21201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wave-5"/>
          <p:cNvSpPr/>
          <p:nvPr/>
        </p:nvSpPr>
        <p:spPr>
          <a:xfrm>
            <a:off x="8669215" y="4136378"/>
            <a:ext cx="43962" cy="18544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wave-6"/>
          <p:cNvSpPr/>
          <p:nvPr/>
        </p:nvSpPr>
        <p:spPr>
          <a:xfrm>
            <a:off x="8757138" y="4163060"/>
            <a:ext cx="43962" cy="1320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wave-7"/>
          <p:cNvSpPr/>
          <p:nvPr/>
        </p:nvSpPr>
        <p:spPr>
          <a:xfrm>
            <a:off x="8845062" y="4100755"/>
            <a:ext cx="43962" cy="25669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7" name="wave-8"/>
          <p:cNvSpPr/>
          <p:nvPr/>
        </p:nvSpPr>
        <p:spPr>
          <a:xfrm>
            <a:off x="8932985" y="4048776"/>
            <a:ext cx="43962" cy="360649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8" name="wave-9"/>
          <p:cNvSpPr/>
          <p:nvPr/>
        </p:nvSpPr>
        <p:spPr>
          <a:xfrm>
            <a:off x="9020908" y="4036591"/>
            <a:ext cx="43962" cy="38501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9" name="wave-10"/>
          <p:cNvSpPr/>
          <p:nvPr/>
        </p:nvSpPr>
        <p:spPr>
          <a:xfrm>
            <a:off x="9108831" y="4050947"/>
            <a:ext cx="43962" cy="35630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wave-11"/>
          <p:cNvSpPr/>
          <p:nvPr/>
        </p:nvSpPr>
        <p:spPr>
          <a:xfrm>
            <a:off x="9196754" y="4108430"/>
            <a:ext cx="43962" cy="2413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wave-12"/>
          <p:cNvSpPr/>
          <p:nvPr/>
        </p:nvSpPr>
        <p:spPr>
          <a:xfrm>
            <a:off x="9284677" y="4104801"/>
            <a:ext cx="43962" cy="24859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wave-13"/>
          <p:cNvSpPr/>
          <p:nvPr/>
        </p:nvSpPr>
        <p:spPr>
          <a:xfrm>
            <a:off x="9372600" y="4061418"/>
            <a:ext cx="43962" cy="3353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wave-14"/>
          <p:cNvSpPr/>
          <p:nvPr/>
        </p:nvSpPr>
        <p:spPr>
          <a:xfrm>
            <a:off x="9460523" y="4032183"/>
            <a:ext cx="43962" cy="39383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wave-15"/>
          <p:cNvSpPr/>
          <p:nvPr/>
        </p:nvSpPr>
        <p:spPr>
          <a:xfrm>
            <a:off x="9548446" y="4038019"/>
            <a:ext cx="43962" cy="38216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5" name="wave-16"/>
          <p:cNvSpPr/>
          <p:nvPr/>
        </p:nvSpPr>
        <p:spPr>
          <a:xfrm>
            <a:off x="9636369" y="4069315"/>
            <a:ext cx="43962" cy="31957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6" name="wave-17"/>
          <p:cNvSpPr/>
          <p:nvPr/>
        </p:nvSpPr>
        <p:spPr>
          <a:xfrm>
            <a:off x="9724292" y="4151884"/>
            <a:ext cx="43962" cy="15443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7" name="wave-18"/>
          <p:cNvSpPr/>
          <p:nvPr/>
        </p:nvSpPr>
        <p:spPr>
          <a:xfrm>
            <a:off x="9812215" y="4121202"/>
            <a:ext cx="43962" cy="21579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wave-19"/>
          <p:cNvSpPr/>
          <p:nvPr/>
        </p:nvSpPr>
        <p:spPr>
          <a:xfrm>
            <a:off x="9900138" y="4047019"/>
            <a:ext cx="43962" cy="36416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9" name="wave-20"/>
          <p:cNvSpPr/>
          <p:nvPr/>
        </p:nvSpPr>
        <p:spPr>
          <a:xfrm>
            <a:off x="9988062" y="4071877"/>
            <a:ext cx="43962" cy="31444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0" name="wave-21"/>
          <p:cNvSpPr/>
          <p:nvPr/>
        </p:nvSpPr>
        <p:spPr>
          <a:xfrm>
            <a:off x="10075985" y="4111178"/>
            <a:ext cx="43962" cy="23584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1" name="wave-22"/>
          <p:cNvSpPr/>
          <p:nvPr/>
        </p:nvSpPr>
        <p:spPr>
          <a:xfrm>
            <a:off x="10163908" y="4148014"/>
            <a:ext cx="43962" cy="1621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2" name="wave-23"/>
          <p:cNvSpPr/>
          <p:nvPr/>
        </p:nvSpPr>
        <p:spPr>
          <a:xfrm>
            <a:off x="10251831" y="4180575"/>
            <a:ext cx="43962" cy="9705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3" name="wave-24"/>
          <p:cNvSpPr/>
          <p:nvPr/>
        </p:nvSpPr>
        <p:spPr>
          <a:xfrm>
            <a:off x="10339754" y="4167093"/>
            <a:ext cx="43962" cy="124013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4" name="wave-25"/>
          <p:cNvSpPr/>
          <p:nvPr/>
        </p:nvSpPr>
        <p:spPr>
          <a:xfrm>
            <a:off x="10427677" y="4185136"/>
            <a:ext cx="43962" cy="8792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5" name="cand-0"/>
          <p:cNvSpPr/>
          <p:nvPr/>
        </p:nvSpPr>
        <p:spPr>
          <a:xfrm>
            <a:off x="8229600" y="4663440"/>
            <a:ext cx="2286000" cy="34747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1040" y="47365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Please call the nurse</a:t>
            </a:r>
            <a:endParaRPr lang="en-US" sz="1000" dirty="0"/>
          </a:p>
        </p:txBody>
      </p:sp>
      <p:sp>
        <p:nvSpPr>
          <p:cNvPr id="47" name="cand-1"/>
          <p:cNvSpPr/>
          <p:nvPr/>
        </p:nvSpPr>
        <p:spPr>
          <a:xfrm>
            <a:off x="8229600" y="5093208"/>
            <a:ext cx="2286000" cy="34747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5166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 am in pain</a:t>
            </a:r>
            <a:endParaRPr lang="en-US" sz="1000" dirty="0"/>
          </a:p>
        </p:txBody>
      </p:sp>
      <p:sp>
        <p:nvSpPr>
          <p:cNvPr id="49" name="cand-2"/>
          <p:cNvSpPr/>
          <p:nvPr/>
        </p:nvSpPr>
        <p:spPr>
          <a:xfrm>
            <a:off x="8229600" y="5522976"/>
            <a:ext cx="2286000" cy="347472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21040" y="5596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Please help me sit up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001000" y="6309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Illustration of the Speak screen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Camera to voice runs entirely on the phone, and the app has no permission to use the internet</a:t>
            </a:r>
            <a:endParaRPr lang="en-US" sz="3000" dirty="0"/>
          </a:p>
        </p:txBody>
      </p:sp>
      <p:sp>
        <p:nvSpPr>
          <p:cNvPr id="4" name="stage-0"/>
          <p:cNvSpPr/>
          <p:nvPr/>
        </p:nvSpPr>
        <p:spPr>
          <a:xfrm>
            <a:off x="548640" y="2057400"/>
            <a:ext cx="141732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Front camera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CameraX, 30 fps</a:t>
            </a:r>
            <a:endParaRPr lang="en-US" sz="1100" dirty="0"/>
          </a:p>
        </p:txBody>
      </p:sp>
      <p:sp>
        <p:nvSpPr>
          <p:cNvPr id="7" name="arrow-0"/>
          <p:cNvSpPr/>
          <p:nvPr/>
        </p:nvSpPr>
        <p:spPr>
          <a:xfrm>
            <a:off x="2002536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tage-1"/>
          <p:cNvSpPr/>
          <p:nvPr/>
        </p:nvSpPr>
        <p:spPr>
          <a:xfrm>
            <a:off x="2161489" y="2057400"/>
            <a:ext cx="141732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8649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Face landmarks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98649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MediaPipe, GPU</a:t>
            </a:r>
            <a:endParaRPr lang="en-US" sz="1100" dirty="0"/>
          </a:p>
        </p:txBody>
      </p:sp>
      <p:sp>
        <p:nvSpPr>
          <p:cNvPr id="11" name="arrow-1"/>
          <p:cNvSpPr/>
          <p:nvPr/>
        </p:nvSpPr>
        <p:spPr>
          <a:xfrm>
            <a:off x="3615385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stage-2"/>
          <p:cNvSpPr/>
          <p:nvPr/>
        </p:nvSpPr>
        <p:spPr>
          <a:xfrm>
            <a:off x="3774338" y="2057400"/>
            <a:ext cx="141732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1498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Mouth crop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11498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aligned, 96 px grey</a:t>
            </a:r>
            <a:endParaRPr lang="en-US" sz="1100" dirty="0"/>
          </a:p>
        </p:txBody>
      </p:sp>
      <p:sp>
        <p:nvSpPr>
          <p:cNvPr id="15" name="arrow-2"/>
          <p:cNvSpPr/>
          <p:nvPr/>
        </p:nvSpPr>
        <p:spPr>
          <a:xfrm>
            <a:off x="5228234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stage-3"/>
          <p:cNvSpPr/>
          <p:nvPr/>
        </p:nvSpPr>
        <p:spPr>
          <a:xfrm>
            <a:off x="5387188" y="2057400"/>
            <a:ext cx="141732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4348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Lip encoder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24348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open-source, NPU</a:t>
            </a:r>
            <a:endParaRPr lang="en-US" sz="1100" dirty="0"/>
          </a:p>
        </p:txBody>
      </p:sp>
      <p:sp>
        <p:nvSpPr>
          <p:cNvPr id="19" name="arrow-3"/>
          <p:cNvSpPr/>
          <p:nvPr/>
        </p:nvSpPr>
        <p:spPr>
          <a:xfrm>
            <a:off x="6841084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stage-4"/>
          <p:cNvSpPr/>
          <p:nvPr/>
        </p:nvSpPr>
        <p:spPr>
          <a:xfrm>
            <a:off x="7000037" y="2057400"/>
            <a:ext cx="1417320" cy="132588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ours-4"/>
          <p:cNvSpPr/>
          <p:nvPr/>
        </p:nvSpPr>
        <p:spPr>
          <a:xfrm>
            <a:off x="7000037" y="2057400"/>
            <a:ext cx="1417320" cy="132588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7197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Few-shot head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7197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trained on the phone</a:t>
            </a:r>
            <a:endParaRPr lang="en-US" sz="1100" dirty="0"/>
          </a:p>
        </p:txBody>
      </p:sp>
      <p:sp>
        <p:nvSpPr>
          <p:cNvPr id="24" name="arrow-4"/>
          <p:cNvSpPr/>
          <p:nvPr/>
        </p:nvSpPr>
        <p:spPr>
          <a:xfrm>
            <a:off x="8453933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stage-5"/>
          <p:cNvSpPr/>
          <p:nvPr/>
        </p:nvSpPr>
        <p:spPr>
          <a:xfrm>
            <a:off x="8612886" y="2057400"/>
            <a:ext cx="1417320" cy="132588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ours-5"/>
          <p:cNvSpPr/>
          <p:nvPr/>
        </p:nvSpPr>
        <p:spPr>
          <a:xfrm>
            <a:off x="8612886" y="2057400"/>
            <a:ext cx="1417320" cy="132588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50046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Confidence gate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750046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speak · ask · reject</a:t>
            </a:r>
            <a:endParaRPr lang="en-US" sz="1100" dirty="0"/>
          </a:p>
        </p:txBody>
      </p:sp>
      <p:sp>
        <p:nvSpPr>
          <p:cNvPr id="29" name="arrow-5"/>
          <p:cNvSpPr/>
          <p:nvPr/>
        </p:nvSpPr>
        <p:spPr>
          <a:xfrm>
            <a:off x="10066782" y="2715768"/>
            <a:ext cx="122377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stage-6"/>
          <p:cNvSpPr/>
          <p:nvPr/>
        </p:nvSpPr>
        <p:spPr>
          <a:xfrm>
            <a:off x="10225735" y="2057400"/>
            <a:ext cx="1417320" cy="1325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62895" y="221284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Voice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362895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natural, pre-rendered, chosen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566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Outlined: the part we design and train per person. Video exists only in memory; stored data is a few embedding vectors per phrase.</a:t>
            </a:r>
            <a:endParaRPr lang="en-US" sz="1300" dirty="0"/>
          </a:p>
        </p:txBody>
      </p:sp>
      <p:sp>
        <p:nvSpPr>
          <p:cNvPr id="34" name="fact-0"/>
          <p:cNvSpPr/>
          <p:nvPr/>
        </p:nvSpPr>
        <p:spPr>
          <a:xfrm>
            <a:off x="548640" y="4160520"/>
            <a:ext cx="2651760" cy="1828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No INTERNET permission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verified in our probe APK: CAMERA is the only permission it requests</a:t>
            </a:r>
            <a:endParaRPr lang="en-US" sz="1300" dirty="0"/>
          </a:p>
        </p:txBody>
      </p:sp>
      <p:sp>
        <p:nvSpPr>
          <p:cNvPr id="37" name="fact-1"/>
          <p:cNvSpPr/>
          <p:nvPr/>
        </p:nvSpPr>
        <p:spPr>
          <a:xfrm>
            <a:off x="3355848" y="4160520"/>
            <a:ext cx="2651760" cy="1828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84448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18.4 ms on NPU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3584448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whole encoder for 1.92 s of lips on the iQOO 15’s chip (SM8850); target ≤ 700 ms end to end</a:t>
            </a:r>
            <a:endParaRPr lang="en-US" sz="1300" dirty="0"/>
          </a:p>
        </p:txBody>
      </p:sp>
      <p:sp>
        <p:nvSpPr>
          <p:cNvPr id="40" name="fact-2"/>
          <p:cNvSpPr/>
          <p:nvPr/>
        </p:nvSpPr>
        <p:spPr>
          <a:xfrm>
            <a:off x="6163056" y="4160520"/>
            <a:ext cx="2651760" cy="1828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91656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59.5M params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391656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229 MB fp32 today; int8 on the NPU to fit the &lt; 100 MB target</a:t>
            </a:r>
            <a:endParaRPr lang="en-US" sz="1300" dirty="0"/>
          </a:p>
        </p:txBody>
      </p:sp>
      <p:sp>
        <p:nvSpPr>
          <p:cNvPr id="43" name="fact-3"/>
          <p:cNvSpPr/>
          <p:nvPr/>
        </p:nvSpPr>
        <p:spPr>
          <a:xfrm>
            <a:off x="8970264" y="4160520"/>
            <a:ext cx="2651760" cy="1828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98864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NPU, GPU, CPU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9198864" y="5029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same answer on each path; latency and energy shown side by side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BUILT FOR A WARD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Built for a ward: hands-free, in the patient’s own voice, and it calls the nurse</a:t>
            </a:r>
            <a:endParaRPr lang="en-US" sz="3000" dirty="0"/>
          </a:p>
        </p:txBody>
      </p:sp>
      <p:sp>
        <p:nvSpPr>
          <p:cNvPr id="4" name="tile-0"/>
          <p:cNvSpPr/>
          <p:nvPr/>
        </p:nvSpPr>
        <p:spPr>
          <a:xfrm>
            <a:off x="548640" y="178308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Blink to talk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Two quick blinks start listening, so a patient who cannot press a button can still speak.</a:t>
            </a:r>
            <a:endParaRPr lang="en-US" sz="1300" dirty="0"/>
          </a:p>
        </p:txBody>
      </p:sp>
      <p:sp>
        <p:nvSpPr>
          <p:cNvPr id="8" name="tile-1"/>
          <p:cNvSpPr/>
          <p:nvPr/>
        </p:nvSpPr>
        <p:spPr>
          <a:xfrm>
            <a:off x="4338218" y="178308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Their own voice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8346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Before surgery the patient says each phrase aloud once; afterwards Mouna speaks with that recording.</a:t>
            </a:r>
            <a:endParaRPr lang="en-US" sz="1300" dirty="0"/>
          </a:p>
        </p:txBody>
      </p:sp>
      <p:sp>
        <p:nvSpPr>
          <p:cNvPr id="12" name="tile-2"/>
          <p:cNvSpPr/>
          <p:nvPr/>
        </p:nvSpPr>
        <p:spPr>
          <a:xfrm>
            <a:off x="8127797" y="178308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Calls the nurse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8346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Each phrase also appears on the caregiver’s phone; urgent ones ring it. Direct over Wi-Fi, no server.</a:t>
            </a:r>
            <a:endParaRPr lang="en-US" sz="1300" dirty="0"/>
          </a:p>
        </p:txBody>
      </p:sp>
      <p:sp>
        <p:nvSpPr>
          <p:cNvPr id="16" name="tile-3"/>
          <p:cNvSpPr/>
          <p:nvPr/>
        </p:nvSpPr>
        <p:spPr>
          <a:xfrm>
            <a:off x="548640" y="402336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Learns from mistakes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“Wrong?” takes one tap: the right phrase is spoken and becomes a new sample. A meter shows it improving.</a:t>
            </a:r>
            <a:endParaRPr lang="en-US" sz="1300" dirty="0"/>
          </a:p>
        </p:txBody>
      </p:sp>
      <p:sp>
        <p:nvSpPr>
          <p:cNvPr id="20" name="tile-4"/>
          <p:cNvSpPr/>
          <p:nvPr/>
        </p:nvSpPr>
        <p:spPr>
          <a:xfrm>
            <a:off x="4338218" y="402336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2538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572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Natural voices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612538" y="50749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 voices in Kannada, Tamil, Hindi and English, rendered once and played offline.</a:t>
            </a:r>
            <a:endParaRPr lang="en-US" sz="1300" dirty="0"/>
          </a:p>
        </p:txBody>
      </p:sp>
      <p:sp>
        <p:nvSpPr>
          <p:cNvPr id="24" name="tile-5"/>
          <p:cNvSpPr/>
          <p:nvPr/>
        </p:nvSpPr>
        <p:spPr>
          <a:xfrm>
            <a:off x="8127797" y="4023360"/>
            <a:ext cx="3515258" cy="19659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2117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572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Context, safely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50749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After “pain”, “medicine” is offered first among the choices. Context reorders; it never speaks on a guess.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All six run in the prototype today (Mouna Lab). Voices: Sarvam Bulbul v3 and AI4Bharat Indic Parler-TTS (Apache-2.0).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EVIDENCE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Personalised lip reading carries over to Kannada: 89.0% top-1 with five samples per phrase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97.3%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96596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two-word phrases, three samples (n 327)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94.3%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310896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right when it chose to speak; otherwise it showed choices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4069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97.2%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425196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right answer among the three choices, five samples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525780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Single words are the hard case (bare “water” is the hardest), so Mouna’s phrases are whole sentences. Next: our own silent recordings, same protocol, evening and next morning.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ON THE IQOO 15’S CHIP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whole encoder runs on the Hexagon NPU: 18.4 ms for 1.92 s of lips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828800"/>
            <a:ext cx="41449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All 5,265 layers run on the NPU; nothing falls back to the CPU.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To get there we rewrote the encoder exactly: its 3-D convolution as a 2-D one and its GRU as plain matrix multiplies (difference below 0.000001).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 fixed 48-frame window made it NPU-ready and more accurate: 86.2% top-1 on Kannada.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int8 weights: 86.3 MB instead of 230.1 MB, with the same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WORDS IT WAS NEVER TAUGHT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For words it was never taught, Mouna is measured, made careful, and can still be reached by yes and 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23.2% → 7.2%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untaught words spoken as a taught phrase: default vs “Careful” mode. The rest go to choices or “not taught”; Careful still speaks taught phrases right 98.6% of the time.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69.2% → 89.2%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3200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two taught words mouthed one after another (“water · want”): right block by block, vs read against a list of human-written sentences.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26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2.8%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4572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word pairs on no list that were spoken as a listed sentence. Off-list pairs are offered as the plain words, never as an invented sentence.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Kannada dataset, encoder, 8 of 27 classes taught at random (20 draws per speaker); every other clip is an untaught word. Same teach / test split as the evidence slide.</a:t>
            </a:r>
            <a:endParaRPr lang="en-US" sz="1000" dirty="0"/>
          </a:p>
        </p:txBody>
      </p:sp>
      <p:sp>
        <p:nvSpPr>
          <p:cNvPr id="11" name="ask-mode"/>
          <p:cNvSpPr/>
          <p:nvPr/>
        </p:nvSpPr>
        <p:spPr>
          <a:xfrm>
            <a:off x="6812280" y="1783080"/>
            <a:ext cx="4830775" cy="44348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196596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MODE · WHEN NOTHING TAUGHT FITS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வலி?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2450592"/>
            <a:ext cx="1356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Pain?  ·  nod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035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தலை?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012680" y="3108960"/>
            <a:ext cx="1356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Head?  ·  shake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6941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தொண்டை அல்லது கழுத்து?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012680" y="3767328"/>
            <a:ext cx="1356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Throat or neck?  ·  blink twice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434840"/>
            <a:ext cx="4282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ನನಗೆ ಗಂಟಲು ಅಥವಾ ಕುತ್ತಿಗೆ ನೋವಾಗುತ್ತಿದೆ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16636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heard by the nurse in Kannada, and shown live on their phone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5468112"/>
            <a:ext cx="4282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30 answers in 8 groups drawn from ICU studies (pain by site, breathing and suction, thirst, comfort, people, fears, questions). Yes: nod, two blinks or tap. No: shake, tap, or wait. One signal is enough.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WHAT IS DIFFERENT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 build on LipLearner and credit it; what is new is the setting: Indian languages, wards, Android, offline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463040"/>
                <a:gridCol w="1463040"/>
                <a:gridCol w="1280160"/>
                <a:gridCol w="1371600"/>
                <a:gridCol w="13990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On device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Learns your lips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Indian languages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Android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Speaks aloud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Ward safety rules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Mouna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LipLearner (CHI 2023)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Liperty (2026)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SRAVI (Liopa)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clinical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Voice Back (AAC)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voice clone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Hindi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from taps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wedge"/>
          <p:cNvSpPr/>
          <p:nvPr/>
        </p:nvSpPr>
        <p:spPr>
          <a:xfrm>
            <a:off x="548640" y="5166360"/>
            <a:ext cx="11094415" cy="868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534924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wedge: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mouth in one language, be heard in another, from human-checked phrase packs, on a phone with no network, with rules that never let it guess in a ward.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THE DEMO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On stage a judge teaches Mouna live, and we show the failure case on purpose: it asks instead of guessing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0:00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quiet bed, a whiteboard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0:20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42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Judge teaches three phrases, about 25 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95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1:10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2095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Mouths in English or Tamil; phone speaks Kannada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770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1:50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Airplane mode, permission list, live telemetry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445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2:20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5445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Untaught: “not sure”, then Ask mode finds 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12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2:50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Credit LipLearner; close</a:t>
            </a:r>
            <a:endParaRPr lang="en-US" sz="1500" dirty="0"/>
          </a:p>
        </p:txBody>
      </p:sp>
      <p:sp>
        <p:nvSpPr>
          <p:cNvPr id="16" name="rules"/>
          <p:cNvSpPr/>
          <p:nvPr/>
        </p:nvSpPr>
        <p:spPr>
          <a:xfrm>
            <a:off x="6583680" y="1828800"/>
            <a:ext cx="5059375" cy="24231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RULES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77440"/>
            <a:ext cx="4419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Speaks only above a per-person threshold and a clear lead over the runner-up.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Otherwise: top three as large cards, or “not sure, please repeat”.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Urgent phrases (pain, breathing) need a confirm, then alarm and flash.</a:t>
            </a:r>
            <a:endParaRPr lang="en-US" sz="1400" dirty="0"/>
          </a:p>
        </p:txBody>
      </p:sp>
      <p:sp>
        <p:nvSpPr>
          <p:cNvPr id="19" name="fallbacks"/>
          <p:cNvSpPr/>
          <p:nvPr/>
        </p:nvSpPr>
        <p:spPr>
          <a:xfrm>
            <a:off x="6583680" y="4434840"/>
            <a:ext cx="5059375" cy="16002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983480"/>
            <a:ext cx="4419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Pre-taught profile · push-to-talk · GPU path if the NPU context fails · 60 s recorded run · second phone with the same build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48 HOURS AND THE RISKS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 know what breaks on a stage, and the 48-hour plan is built around it</a:t>
            </a:r>
            <a:endParaRPr lang="en-US" sz="3000" dirty="0"/>
          </a:p>
        </p:txBody>
      </p:sp>
      <p:sp>
        <p:nvSpPr>
          <p:cNvPr id="4" name="block-0"/>
          <p:cNvSpPr/>
          <p:nvPr/>
        </p:nvSpPr>
        <p:spPr>
          <a:xfrm>
            <a:off x="548640" y="1828800"/>
            <a:ext cx="1757629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0–3 h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Repo, camera, landmarks, crop, voices</a:t>
            </a:r>
            <a:endParaRPr lang="en-US" sz="1200" dirty="0"/>
          </a:p>
        </p:txBody>
      </p:sp>
      <p:sp>
        <p:nvSpPr>
          <p:cNvPr id="7" name="block-1"/>
          <p:cNvSpPr/>
          <p:nvPr/>
        </p:nvSpPr>
        <p:spPr>
          <a:xfrm>
            <a:off x="2415997" y="1828800"/>
            <a:ext cx="1757629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3157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3–12 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553157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Encoder on phone, head, teaching flow</a:t>
            </a:r>
            <a:endParaRPr lang="en-US" sz="1200" dirty="0"/>
          </a:p>
        </p:txBody>
      </p:sp>
      <p:sp>
        <p:nvSpPr>
          <p:cNvPr id="10" name="block-2"/>
          <p:cNvSpPr/>
          <p:nvPr/>
        </p:nvSpPr>
        <p:spPr>
          <a:xfrm>
            <a:off x="4283354" y="1828800"/>
            <a:ext cx="1757629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0514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12–24 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20514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Accuracy runs, gate, cross-language</a:t>
            </a:r>
            <a:endParaRPr lang="en-US" sz="1200" dirty="0"/>
          </a:p>
        </p:txBody>
      </p:sp>
      <p:sp>
        <p:nvSpPr>
          <p:cNvPr id="13" name="block-3"/>
          <p:cNvSpPr/>
          <p:nvPr/>
        </p:nvSpPr>
        <p:spPr>
          <a:xfrm>
            <a:off x="6150712" y="1828800"/>
            <a:ext cx="1757629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utline"/>
          <p:cNvSpPr/>
          <p:nvPr/>
        </p:nvSpPr>
        <p:spPr>
          <a:xfrm>
            <a:off x="6150712" y="1828800"/>
            <a:ext cx="1757629" cy="141732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7872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24–36 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87872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NPU path, telemetry, soak, caregiver view</a:t>
            </a:r>
            <a:endParaRPr lang="en-US" sz="1200" dirty="0"/>
          </a:p>
        </p:txBody>
      </p:sp>
      <p:sp>
        <p:nvSpPr>
          <p:cNvPr id="17" name="block-4"/>
          <p:cNvSpPr/>
          <p:nvPr/>
        </p:nvSpPr>
        <p:spPr>
          <a:xfrm>
            <a:off x="8018069" y="1828800"/>
            <a:ext cx="1757629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55229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36–44 h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55229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Freeze at 40 h; rehearse five times</a:t>
            </a:r>
            <a:endParaRPr lang="en-US" sz="1200" dirty="0"/>
          </a:p>
        </p:txBody>
      </p:sp>
      <p:sp>
        <p:nvSpPr>
          <p:cNvPr id="20" name="block-5"/>
          <p:cNvSpPr/>
          <p:nvPr/>
        </p:nvSpPr>
        <p:spPr>
          <a:xfrm>
            <a:off x="9885426" y="1828800"/>
            <a:ext cx="1757629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22586" y="1965960"/>
            <a:ext cx="1483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44–48 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022586" y="2377440"/>
            <a:ext cx="14833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Repo lock, final run, thermals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383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Roles: Maadhav, pitch and mouth pipeline · Sachin, app, phrase packs, voices · Nakul, NPU conversion, benchmarks, thermals. NPU cut line at hour 30 (outlined).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969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Accuracy below the paper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Spike gate before we commit; five samples; top-3 fallback; geometry plan B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Ops fall off the NPU (Conv3D)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GPU path ready; swap to 2D + temporal conv; report honestly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NPU context error 1007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Pre-warm, cached context binary, retry with backoff, GPU switch on screen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False triggers: smile, yawn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Push-to-talk by default; idle class; measured false speaks per minute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Venue lighting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Own front light; tested under overhead light and backlight</a:t>
                      </a:r>
                      <a:endParaRPr lang="en-US" sz="13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IMPACT AND NEXT STEP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Next: a pilot with a speech-language pathology team, with the limits stated up front</a:t>
            </a:r>
            <a:endParaRPr lang="en-US" sz="3000" dirty="0"/>
          </a:p>
        </p:txBody>
      </p:sp>
      <p:sp>
        <p:nvSpPr>
          <p:cNvPr id="4" name="col-0"/>
          <p:cNvSpPr/>
          <p:nvPr/>
        </p:nvSpPr>
        <p:spPr>
          <a:xfrm>
            <a:off x="548640" y="1828800"/>
            <a:ext cx="3515258" cy="3154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Next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Pilot with an ENT or speech-language pathology team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Open-source, human-checked phrase packs in more Indian languages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Clinical validation before any claim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Later: “lip banking” before surgery</a:t>
            </a:r>
            <a:endParaRPr lang="en-US" sz="1400" dirty="0"/>
          </a:p>
        </p:txBody>
      </p:sp>
      <p:sp>
        <p:nvSpPr>
          <p:cNvPr id="7" name="col-1"/>
          <p:cNvSpPr/>
          <p:nvPr/>
        </p:nvSpPr>
        <p:spPr>
          <a:xfrm>
            <a:off x="4338218" y="1828800"/>
            <a:ext cx="3515258" cy="3154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2011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Limits we state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60604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Accuracy on real patients is unproven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Masks, beards, bandages and facial droop block the lips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 phrase list, not open conversation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 communication aid, not a medical device</a:t>
            </a:r>
            <a:endParaRPr lang="en-US" sz="1400" dirty="0"/>
          </a:p>
        </p:txBody>
      </p:sp>
      <p:sp>
        <p:nvSpPr>
          <p:cNvPr id="10" name="col-2"/>
          <p:cNvSpPr/>
          <p:nvPr/>
        </p:nvSpPr>
        <p:spPr>
          <a:xfrm>
            <a:off x="8127797" y="1828800"/>
            <a:ext cx="3515258" cy="3154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20116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Privacy by design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60604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INTERNET permission at all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Video only in memory; templates encrypted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Consent screen and one-tap delete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real patient in this pitch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Mouth it. Mouna says it.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A · FOR REVIEWERS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Mouna at a glance, mapped to what a judge looks for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625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Problem and impact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People who can mouth words but make no sound; ~70,000 new larynx and hypopharynx cancers a year in India; speech disturbance in 51.2% of stroke onsets.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Innovation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Personalised silent-speech phrases with cross-language output (mouth Tamil, heard in Kannada) from human-checked packs; ward safety rules.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Technical depth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MediaPipe landmarks, aligned mouth crop, open-source lip encoder on the Snapdragon NPU, few-shot head trained on the phone, calibrated confidence gate.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Evidence and honesty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Measured on 7 Kannada speakers: 86.2% top-1, 97.3% on phrases, 94.3% right when it speaks; pass lines set before measuring; limits stated.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Feasibility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Built in 21 hours (git history, 3–4 Oct 2026): working prototype live at mouna-spike.vercel.app (Mouna Lab) and tested harness; 48-hour plan with cut lines; GPU fallback; lessons from shipping a VLM on the iQOO 15 NPU.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Use of the device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Whole encoder runs on the Hexagon NPU of the iQOO 15’s chip: 18.4 ms per 1.92 s window, every layer on the NPU (Galaxy S26, Qualcomm AI Hub). Front camera, offline voices, airplane-mode demo.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Responsibility</a:t>
                      </a:r>
                      <a:endParaRPr lang="en-US" sz="14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No network permission, no stored video, consent and delete, not a medical device, prior art credited, pre-built work disclosed.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B · KEY FACTS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Every number in this deck, with its source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  <a:gridCol w="2864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~70,000 new laryngeal and hypopharyngeal cancers a year in India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GLOBOCAN 2024 India fact sheet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51.2% of stroke patients have speech disturbance at onset (34,792 cases)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Mathur et al., Indian stroke registries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 quo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Cloud lip-reading app SRAVI: 21.8% accuracy in UK critical care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HRA summary of the SRAVI study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Prior art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LipLearner: 81.7 / 96.0 / 98.8% top-1 at 1 / 3 / 5 samples, 30 English commands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Su, Fang, Rekimoto, CHI 2023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Kannada, 7 speakers, 27 classes: 71.9% / 85.2% / 89.0% top-1 at 1 / 3 / 5 samples (n 1333)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Our harness; Divya P, Mendeley Data 2026, CC BY 4.0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Two-word phrases 97.3%, single words 83.5% (three samples)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Same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Right 94.3% of the times it chose to speak; top-3 97.2% with five samples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Same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Lip geometry alone, no model weights: 75.3% top-1 (three samples)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Same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Untaught words spoken as a taught phrase 23.2%, 7.2% in Careful mode; two-word sentences 69.2% → 89.2% with a sentence list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Same; 8 of 27 classes taught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Whole encoder on the Hexagon NPU: 18.4 ms per 1.92 s window, 5265 of 5265 layers on the NPU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Qualcomm AI Hub, Galaxy S26 (SM8850)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int8 encoder 86.3 MB (fp32 230.1 MB), same Kannada top-1 86.2%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Our harness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Encoder rebuilt from LipLearner’s MIT Core ML release; 59.5M parameters; matches the original to within 0.00002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Our encoder tools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Prototype APK requests the CAMERA permission only; the Lab page cannot make network requests (CSP)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aapt2 in CI; HTTP headers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Voice pack: 208 clips (4 voices × 4 languages × 13 phrases), 2.7 MB, rendered once and played offline</a:t>
                      </a:r>
                      <a:endParaRPr lang="en-US" sz="11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</a:rPr>
                        <a:t>Sarvam Bulbul v3; AI4Bharat Indic Parler-TTS (Apache-2.0)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C · TEAM, DISCLOSURE, SOURCES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 have shipped on-device AI on this phone before, and we disclose everything that existed before the event</a:t>
            </a:r>
            <a:endParaRPr lang="en-US" sz="3000" dirty="0"/>
          </a:p>
        </p:txBody>
      </p:sp>
      <p:sp>
        <p:nvSpPr>
          <p:cNvPr id="4" name="team"/>
          <p:cNvSpPr/>
          <p:nvPr/>
        </p:nvSpPr>
        <p:spPr>
          <a:xfrm>
            <a:off x="548640" y="1783080"/>
            <a:ext cx="5410048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HIGHEST IN THE ROOM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6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VeriTransit, iQOO Chennai City Battle: Qwen3-VL-4B on the iQOO 15 NPU via GenieX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DriftSense, SEMICON India 2026: 1st runner-up, sub-pixel image registration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Android in Kotlin and Compose: CameraX, Nearby, BLE (MeshSOS)</a:t>
            </a:r>
            <a:endParaRPr lang="en-US" sz="1300" dirty="0"/>
          </a:p>
        </p:txBody>
      </p:sp>
      <p:sp>
        <p:nvSpPr>
          <p:cNvPr id="7" name="disclosure"/>
          <p:cNvSpPr/>
          <p:nvPr/>
        </p:nvSpPr>
        <p:spPr>
          <a:xfrm>
            <a:off x="6233008" y="1783080"/>
            <a:ext cx="5410048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193852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DISCLOSURE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286000"/>
            <a:ext cx="486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Pre-existing: the LipLearner method (cited); open-source MediaPipe, the LipLearner encoder (weight terms being confirmed), LiteRT, ONNX Runtime, the Qualcomm AI stack, Sarvam Bulbul and Indic Parler-TTS voices, with attribution; a small feasibility-spike repository, linked. All Finale code is written in the event window, in a new repository. No patient data; volunteers consent.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LipLearner, Su, Fang, Rekimoto, CHI 2023, arxiv.org/abs/2302.05907; github.com/rkmtlab/LipLearner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GLOBOCAN 2024 India fact sheet, gco.iarc.who.int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Mathur et al., hospital-based stroke registries in India, 2020–22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HRA summary of the SRAVI study (critical care); liopa.ai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Fassler et al., 2026, lip-reading after laryngectomy, n = 16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Divya P, Kannada multi-speaker lip-reading dataset, Mendeley Data 2026, doi:10.17632/zbzrbs89pz.1, CC BY 4.0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Qualcomm AI Hub, profile jobs on Samsung Galaxy S26 (SM8850)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Voices: Sarvam AI Bulbul v3; AI4Bharat Indic Parler-TTS (Apache-2.0), rendered at build time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National Cancer Grid head and neck guideline, 2019, ncgindia.org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Liperty, github.com/HereLiesAz/Liperty; MELDER, CHI 2024; Auto-AVSR, github.com/mpc001/auto_avsr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na">
  <a:themeElements>
    <a:clrScheme name="Mouna">
      <a:dk1>
        <a:srgbClr val="0E0D0B"/>
      </a:dk1>
      <a:lt1>
        <a:srgbClr val="EDE6D6"/>
      </a:lt1>
      <a:dk2>
        <a:srgbClr val="1F1D19"/>
      </a:dk2>
      <a:lt2>
        <a:srgbClr val="B9B2A3"/>
      </a:lt2>
      <a:accent1>
        <a:srgbClr val="F0AA2E"/>
      </a:accent1>
      <a:accent2>
        <a:srgbClr val="E4472B"/>
      </a:accent2>
      <a:accent3>
        <a:srgbClr val="8FBF8A"/>
      </a:accent3>
      <a:accent4>
        <a:srgbClr val="8A8478"/>
      </a:accent4>
      <a:accent5>
        <a:srgbClr val="3D3A33"/>
      </a:accent5>
      <a:accent6>
        <a:srgbClr val="2C2924"/>
      </a:accent6>
      <a:hlink>
        <a:srgbClr val="F0AA2E"/>
      </a:hlink>
      <a:folHlink>
        <a:srgbClr val="B9B2A3"/>
      </a:folHlink>
    </a:clrScheme>
    <a:fontScheme name="Mouna">
      <a:majorFont>
        <a:latin typeface="Bodoni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 Semi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Team Highest in the 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Mouna: a voice without sound</dc:title>
  <dc:subject>iQOO Hackathon, Open Innovation track. Phone app that speaks silently mouthed phrases aloud in Indian languages, offline, on the NPU.</dc:subject>
  <dc:creator>Team Highest in the Room: Maadhav V H, Sachin A S, Nakul T</dc:creator>
  <cp:lastModifiedBy>Team Highest in the Room: Maadhav V H, Sachin A S, Nakul T</cp:lastModifiedBy>
  <cp:revision>1</cp:revision>
  <dcterms:created xsi:type="dcterms:W3CDTF">2026-10-04T10:17:21Z</dcterms:created>
  <dcterms:modified xsi:type="dcterms:W3CDTF">2026-10-04T10:17:21Z</dcterms:modified>
</cp:coreProperties>
</file>